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handoutMasterIdLst>
    <p:handoutMasterId r:id="rId24"/>
  </p:handoutMasterIdLst>
  <p:sldIdLst>
    <p:sldId id="280" r:id="rId2"/>
    <p:sldId id="366" r:id="rId3"/>
    <p:sldId id="380" r:id="rId4"/>
    <p:sldId id="383" r:id="rId5"/>
    <p:sldId id="385" r:id="rId6"/>
    <p:sldId id="386" r:id="rId7"/>
    <p:sldId id="387" r:id="rId8"/>
    <p:sldId id="403" r:id="rId9"/>
    <p:sldId id="388" r:id="rId10"/>
    <p:sldId id="389" r:id="rId11"/>
    <p:sldId id="390" r:id="rId12"/>
    <p:sldId id="406" r:id="rId13"/>
    <p:sldId id="407" r:id="rId14"/>
    <p:sldId id="405" r:id="rId15"/>
    <p:sldId id="404" r:id="rId16"/>
    <p:sldId id="393" r:id="rId17"/>
    <p:sldId id="402" r:id="rId18"/>
    <p:sldId id="395" r:id="rId19"/>
    <p:sldId id="397" r:id="rId20"/>
    <p:sldId id="399" r:id="rId21"/>
    <p:sldId id="281"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8E96E6D-7AD6-4E30-8F6B-D14F2205F211}">
          <p14:sldIdLst>
            <p14:sldId id="280"/>
            <p14:sldId id="366"/>
            <p14:sldId id="380"/>
            <p14:sldId id="383"/>
            <p14:sldId id="385"/>
            <p14:sldId id="386"/>
            <p14:sldId id="387"/>
            <p14:sldId id="403"/>
            <p14:sldId id="388"/>
            <p14:sldId id="389"/>
            <p14:sldId id="390"/>
            <p14:sldId id="406"/>
            <p14:sldId id="407"/>
            <p14:sldId id="405"/>
            <p14:sldId id="404"/>
            <p14:sldId id="393"/>
            <p14:sldId id="402"/>
            <p14:sldId id="395"/>
            <p14:sldId id="397"/>
            <p14:sldId id="399"/>
            <p14:sldId id="281"/>
          </p14:sldIdLst>
        </p14:section>
        <p14:section name="Untitled Section" id="{EF848966-FC81-45C8-9490-87CCCE9025E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autoAdjust="0"/>
    <p:restoredTop sz="94364" autoAdjust="0"/>
  </p:normalViewPr>
  <p:slideViewPr>
    <p:cSldViewPr>
      <p:cViewPr varScale="1">
        <p:scale>
          <a:sx n="107" d="100"/>
          <a:sy n="107" d="100"/>
        </p:scale>
        <p:origin x="193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885397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37476176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2587961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8540149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7513893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22402657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8" Type="http://schemas.openxmlformats.org/officeDocument/2006/relationships/hyperlink" Target="https://ieeexplore.ieee.org/document/10137767/" TargetMode="External"/><Relationship Id="rId3" Type="http://schemas.openxmlformats.org/officeDocument/2006/relationships/notesSlide" Target="../notesSlides/notesSlide17.xml"/><Relationship Id="rId7" Type="http://schemas.openxmlformats.org/officeDocument/2006/relationships/hyperlink" Target="https://doi.org/10.1007/s40979-023-00140-5" TargetMode="External"/><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hyperlink" Target="https://edintegrity.biomedcentral.com/articles/10.1007/s40979-023-00140-5" TargetMode="External"/><Relationship Id="rId11" Type="http://schemas.openxmlformats.org/officeDocument/2006/relationships/hyperlink" Target="https://arxiv.org/pdf/1801.06323.pdf" TargetMode="External"/><Relationship Id="rId5" Type="http://schemas.openxmlformats.org/officeDocument/2006/relationships/hyperlink" Target="https://www.ijitee.org/wp-content/uploads/papers/v8i11/K21480981119.pdf" TargetMode="External"/><Relationship Id="rId10" Type="http://schemas.openxmlformats.org/officeDocument/2006/relationships/hyperlink" Target="https://doi.org/10.1145/3345317" TargetMode="External"/><Relationship Id="rId4" Type="http://schemas.openxmlformats.org/officeDocument/2006/relationships/hyperlink" Target="https://ijcrt.org/papers/IJCRT2006516.pdf" TargetMode="External"/><Relationship Id="rId9" Type="http://schemas.openxmlformats.org/officeDocument/2006/relationships/hyperlink" Target="https://dl.acm.org/doi/fullHtml/10.1145/3345317"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0" y="875030"/>
            <a:ext cx="9158748" cy="5319725"/>
            <a:chOff x="-14748" y="986564"/>
            <a:chExt cx="9158748" cy="5319725"/>
          </a:xfrm>
        </p:grpSpPr>
        <p:sp>
          <p:nvSpPr>
            <p:cNvPr id="22" name="TextBox 21"/>
            <p:cNvSpPr txBox="1"/>
            <p:nvPr/>
          </p:nvSpPr>
          <p:spPr>
            <a:xfrm>
              <a:off x="139933" y="4982850"/>
              <a:ext cx="4322209" cy="1323439"/>
            </a:xfrm>
            <a:prstGeom prst="rect">
              <a:avLst/>
            </a:prstGeom>
            <a:noFill/>
          </p:spPr>
          <p:txBody>
            <a:bodyPr wrap="square" rtlCol="0">
              <a:spAutoFit/>
            </a:bodyPr>
            <a:lstStyle/>
            <a:p>
              <a:r>
                <a:rPr lang="en-US" sz="2000" b="1" dirty="0"/>
                <a:t>220701225</a:t>
              </a:r>
            </a:p>
            <a:p>
              <a:r>
                <a:rPr lang="en-US" sz="2000" b="1" dirty="0"/>
                <a:t>RISHI KARTHICK P</a:t>
              </a:r>
            </a:p>
            <a:p>
              <a:r>
                <a:rPr lang="en-US" sz="2000" b="1" dirty="0"/>
                <a:t>DURAIMURUGAN N</a:t>
              </a:r>
            </a:p>
            <a:p>
              <a:r>
                <a:rPr lang="en-US" sz="2000" b="1" dirty="0"/>
                <a:t>B.E CSE</a:t>
              </a:r>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41777" y="2352715"/>
                <a:ext cx="4825421" cy="1569660"/>
              </a:xfrm>
              <a:prstGeom prst="rect">
                <a:avLst/>
              </a:prstGeom>
              <a:noFill/>
            </p:spPr>
            <p:txBody>
              <a:bodyPr wrap="square" rtlCol="0">
                <a:spAutoFit/>
              </a:bodyPr>
              <a:lstStyle/>
              <a:p>
                <a:r>
                  <a:rPr lang="en-US" sz="4800" b="1" dirty="0">
                    <a:solidFill>
                      <a:schemeClr val="bg1"/>
                    </a:solidFill>
                    <a:ea typeface="Open Sans Bold" panose="020B0806030504020204" pitchFamily="34" charset="0"/>
                    <a:cs typeface="Open Sans Bold" panose="020B0806030504020204" pitchFamily="34" charset="0"/>
                  </a:rPr>
                  <a:t>AUTOMATED HOUSE FINDER</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b="1" dirty="0"/>
              <a:t>Abstract</a:t>
            </a:r>
            <a:endParaRPr lang="en-IN" b="1" dirty="0">
              <a:latin typeface="+mj-lt"/>
            </a:endParaRPr>
          </a:p>
        </p:txBody>
      </p:sp>
      <p:sp>
        <p:nvSpPr>
          <p:cNvPr id="3" name="Content Placeholder 2"/>
          <p:cNvSpPr>
            <a:spLocks noGrp="1"/>
          </p:cNvSpPr>
          <p:nvPr>
            <p:ph idx="1"/>
          </p:nvPr>
        </p:nvSpPr>
        <p:spPr/>
        <p:txBody>
          <a:bodyPr>
            <a:normAutofit/>
          </a:bodyPr>
          <a:lstStyle/>
          <a:p>
            <a:pPr marL="0" indent="0" algn="just">
              <a:buNone/>
            </a:pPr>
            <a:r>
              <a:rPr lang="en-US" dirty="0"/>
              <a:t>The "Automated House Finder" is a project designed to streamline the process of gathering real estate data using UiPath. By accepting location and email as inputs, the system extracts key property details (address, price, square footage, number of bedrooms, and bathrooms) from the Zillow website. The extracted data is structured stored in an Excel file and sent to the user via email</a:t>
            </a:r>
            <a:r>
              <a:rPr lang="en-US" kern="1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This automation significantly reduces manual effort, enhances efficiency, and ensures timely delivery of accurate real estate information</a:t>
            </a:r>
            <a:endParaRPr lang="en-US" dirty="0"/>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Need for the Proposed System</a:t>
            </a:r>
            <a:endParaRPr lang="en-IN" b="1" dirty="0">
              <a:latin typeface="+mj-lt"/>
            </a:endParaRP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t>Manual extraction of real estate data is time-consuming and prone to human errors.</a:t>
            </a:r>
          </a:p>
          <a:p>
            <a:pPr algn="just">
              <a:buFont typeface="Arial" panose="020B0604020202020204" pitchFamily="34" charset="0"/>
              <a:buChar char="•"/>
            </a:pPr>
            <a:r>
              <a:rPr lang="en-US" dirty="0"/>
              <a:t>A lack of automation in gathering detailed property information creates inefficiencies for businesses and individuals.</a:t>
            </a:r>
          </a:p>
          <a:p>
            <a:pPr algn="just">
              <a:buFont typeface="Arial" panose="020B0604020202020204" pitchFamily="34" charset="0"/>
              <a:buChar char="•"/>
            </a:pPr>
            <a:r>
              <a:rPr lang="en-US" dirty="0"/>
              <a:t>Sending the data via email ensures easy access and organization, making the process user-friendly.</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Advantages of the Proposed System</a:t>
            </a:r>
            <a:endParaRPr lang="en-IN" b="1" dirty="0">
              <a:latin typeface="+mj-lt"/>
            </a:endParaRPr>
          </a:p>
        </p:txBody>
      </p:sp>
      <p:sp>
        <p:nvSpPr>
          <p:cNvPr id="3" name="Content Placeholder 2"/>
          <p:cNvSpPr>
            <a:spLocks noGrp="1"/>
          </p:cNvSpPr>
          <p:nvPr>
            <p:ph idx="1"/>
          </p:nvPr>
        </p:nvSpPr>
        <p:spPr/>
        <p:txBody>
          <a:bodyPr/>
          <a:lstStyle/>
          <a:p>
            <a:pPr algn="just"/>
            <a:r>
              <a:rPr lang="en-US" b="1" dirty="0"/>
              <a:t>Efficiency:</a:t>
            </a:r>
            <a:r>
              <a:rPr lang="en-US" dirty="0"/>
              <a:t> Automates the repetitive task of scraping data. </a:t>
            </a:r>
          </a:p>
          <a:p>
            <a:pPr algn="just"/>
            <a:r>
              <a:rPr lang="en-US" b="1" dirty="0"/>
              <a:t>Accuracy:</a:t>
            </a:r>
            <a:r>
              <a:rPr lang="en-US" dirty="0"/>
              <a:t> Reduces human errors in data collection.</a:t>
            </a:r>
          </a:p>
          <a:p>
            <a:pPr algn="just"/>
            <a:r>
              <a:rPr lang="en-US" b="1" dirty="0"/>
              <a:t>Convenience:</a:t>
            </a:r>
            <a:r>
              <a:rPr lang="en-US" dirty="0"/>
              <a:t> Directly emails the results to the user, enhancing accessibility.</a:t>
            </a:r>
          </a:p>
          <a:p>
            <a:pPr algn="just"/>
            <a:r>
              <a:rPr lang="en-US" b="1" dirty="0"/>
              <a:t>Scalability:</a:t>
            </a:r>
            <a:r>
              <a:rPr lang="en-US" dirty="0"/>
              <a:t> Can easily adapt to additional data sources or user requirements.</a:t>
            </a:r>
          </a:p>
          <a:p>
            <a:pPr algn="just"/>
            <a:r>
              <a:rPr lang="en-US" b="1" dirty="0"/>
              <a:t>Time-saving:</a:t>
            </a:r>
            <a:r>
              <a:rPr lang="en-US" dirty="0"/>
              <a:t> Speeds up data retrieval and processing significantly.</a:t>
            </a:r>
            <a:endParaRPr lang="en-US" b="1" dirty="0"/>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Main Objective</a:t>
            </a:r>
            <a:endParaRPr lang="en-IN" b="1" dirty="0">
              <a:latin typeface="+mj-lt"/>
            </a:endParaRPr>
          </a:p>
        </p:txBody>
      </p:sp>
      <p:sp>
        <p:nvSpPr>
          <p:cNvPr id="3" name="Content Placeholder 2"/>
          <p:cNvSpPr>
            <a:spLocks noGrp="1"/>
          </p:cNvSpPr>
          <p:nvPr>
            <p:ph idx="1"/>
          </p:nvPr>
        </p:nvSpPr>
        <p:spPr/>
        <p:txBody>
          <a:bodyPr>
            <a:normAutofit lnSpcReduction="10000"/>
          </a:bodyPr>
          <a:lstStyle/>
          <a:p>
            <a:pPr marL="0" indent="0" algn="just">
              <a:buNone/>
            </a:pPr>
            <a:r>
              <a:rPr lang="en-US" dirty="0"/>
              <a:t>The primary objective of the "Automated Real Estate Data Scraper" project is to create an efficient, user-friendly system that automates the collection and delivery of real estate data. By leveraging UiPath's automation capabilities, the project aims to:</a:t>
            </a:r>
          </a:p>
          <a:p>
            <a:pPr lvl="1" algn="just">
              <a:buFont typeface="+mj-lt"/>
              <a:buAutoNum type="arabicPeriod"/>
            </a:pPr>
            <a:r>
              <a:rPr lang="en-IN" b="1" dirty="0"/>
              <a:t>Simplify Data Acquisition</a:t>
            </a:r>
            <a:r>
              <a:rPr lang="en-US" b="1" dirty="0"/>
              <a:t>:</a:t>
            </a:r>
            <a:r>
              <a:rPr lang="en-US" dirty="0"/>
              <a:t> Eliminate the manual effort required to browse multiple real estate websites and extract relevant property details such as price, location, and specifications.</a:t>
            </a:r>
          </a:p>
          <a:p>
            <a:pPr lvl="1" algn="just">
              <a:buFont typeface="+mj-lt"/>
              <a:buAutoNum type="arabicPeriod"/>
            </a:pPr>
            <a:r>
              <a:rPr lang="en-IN" b="1" dirty="0"/>
              <a:t>Enhance Data Accuracy</a:t>
            </a:r>
            <a:r>
              <a:rPr lang="en-US" b="1" dirty="0"/>
              <a:t>:</a:t>
            </a:r>
            <a:r>
              <a:rPr lang="en-US" dirty="0"/>
              <a:t> Ensure reliable and error-free data extraction through automation, minimizing the risks of human oversight.</a:t>
            </a:r>
          </a:p>
          <a:p>
            <a:pPr lvl="1" algn="just">
              <a:buFont typeface="+mj-lt"/>
              <a:buAutoNum type="arabicPeriod"/>
            </a:pPr>
            <a:r>
              <a:rPr lang="en-US" b="1" dirty="0"/>
              <a:t>Improve Accessibility</a:t>
            </a:r>
            <a:r>
              <a:rPr lang="en-US" dirty="0"/>
              <a:t>: Provide users with property data in a structured and organized format (Excel file) delivered directly to their email inbox.</a:t>
            </a:r>
          </a:p>
          <a:p>
            <a:pPr lvl="1" algn="just">
              <a:buFont typeface="+mj-lt"/>
              <a:buAutoNum type="arabicPeriod"/>
            </a:pPr>
            <a:r>
              <a:rPr lang="en-IN" b="1" dirty="0"/>
              <a:t>Save Time and Effort: </a:t>
            </a:r>
            <a:r>
              <a:rPr lang="en-US" dirty="0"/>
              <a:t>Significantly reduce the time spent gathering and compiling real estate information, making it particularly useful for individuals or businesses that require frequent data updates.</a:t>
            </a:r>
            <a:endParaRPr lang="en-US" b="1" dirty="0"/>
          </a:p>
          <a:p>
            <a:pPr algn="just"/>
            <a:endParaRPr lang="en-US" dirty="0"/>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Architecture Diagram</a:t>
            </a:r>
            <a:endParaRPr lang="en-IN" b="1" dirty="0">
              <a:latin typeface="+mj-lt"/>
            </a:endParaRPr>
          </a:p>
        </p:txBody>
      </p:sp>
      <p:pic>
        <p:nvPicPr>
          <p:cNvPr id="14" name="image6.png">
            <a:extLst>
              <a:ext uri="{FF2B5EF4-FFF2-40B4-BE49-F238E27FC236}">
                <a16:creationId xmlns:a16="http://schemas.microsoft.com/office/drawing/2014/main" id="{4B2FD82F-4CE6-2750-3A13-85A1E8D4524C}"/>
              </a:ext>
            </a:extLst>
          </p:cNvPr>
          <p:cNvPicPr>
            <a:picLocks noGrp="1"/>
          </p:cNvPicPr>
          <p:nvPr>
            <p:ph idx="1"/>
          </p:nvPr>
        </p:nvPicPr>
        <p:blipFill>
          <a:blip r:embed="rId4"/>
          <a:srcRect b="5474"/>
          <a:stretch>
            <a:fillRect/>
          </a:stretch>
        </p:blipFill>
        <p:spPr>
          <a:xfrm>
            <a:off x="2447764" y="914400"/>
            <a:ext cx="4464496" cy="5538936"/>
          </a:xfrm>
          <a:prstGeom prst="rect">
            <a:avLst/>
          </a:prstGeom>
          <a:ln/>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System Requirements</a:t>
            </a:r>
            <a:endParaRPr lang="en-IN" b="1" dirty="0">
              <a:latin typeface="+mj-lt"/>
            </a:endParaRPr>
          </a:p>
        </p:txBody>
      </p:sp>
      <p:sp>
        <p:nvSpPr>
          <p:cNvPr id="3" name="Content Placeholder 2"/>
          <p:cNvSpPr>
            <a:spLocks noGrp="1"/>
          </p:cNvSpPr>
          <p:nvPr>
            <p:ph idx="1"/>
          </p:nvPr>
        </p:nvSpPr>
        <p:spPr/>
        <p:txBody>
          <a:bodyPr/>
          <a:lstStyle/>
          <a:p>
            <a:pPr rtl="0" fontAlgn="base">
              <a:spcBef>
                <a:spcPts val="0"/>
              </a:spcBef>
              <a:spcAft>
                <a:spcPts val="0"/>
              </a:spcAft>
              <a:buFont typeface="Arial" panose="020B0604020202020204" pitchFamily="34" charset="0"/>
              <a:buChar char="•"/>
            </a:pPr>
            <a:r>
              <a:rPr lang="en-US" dirty="0"/>
              <a:t>Hardware</a:t>
            </a:r>
          </a:p>
          <a:p>
            <a:pPr lvl="1" fontAlgn="base">
              <a:spcBef>
                <a:spcPts val="0"/>
              </a:spcBef>
              <a:buFont typeface="Wingdings" panose="05000000000000000000" pitchFamily="2" charset="2"/>
              <a:buChar char="ü"/>
            </a:pPr>
            <a:r>
              <a:rPr lang="en-US" sz="1800" b="1" i="0" u="none" strike="noStrike" dirty="0">
                <a:solidFill>
                  <a:srgbClr val="000000"/>
                </a:solidFill>
                <a:effectLst/>
                <a:latin typeface="Arial" panose="020B0604020202020204" pitchFamily="34" charset="0"/>
              </a:rPr>
              <a:t>Processor</a:t>
            </a:r>
            <a:r>
              <a:rPr lang="en-US" sz="1800" b="0" i="0" u="none" strike="noStrike" dirty="0">
                <a:solidFill>
                  <a:srgbClr val="000000"/>
                </a:solidFill>
                <a:effectLst/>
                <a:latin typeface="Arial" panose="020B0604020202020204" pitchFamily="34" charset="0"/>
              </a:rPr>
              <a:t>: Dual-core processor (2 GHz or higher).</a:t>
            </a:r>
            <a:endParaRPr lang="en-US" sz="1800" b="0" i="0" u="none" strike="noStrike" dirty="0">
              <a:solidFill>
                <a:srgbClr val="000000"/>
              </a:solidFill>
              <a:effectLst/>
              <a:latin typeface="Calibri" panose="020F0502020204030204" pitchFamily="34" charset="0"/>
            </a:endParaRPr>
          </a:p>
          <a:p>
            <a:pPr lvl="1" fontAlgn="base">
              <a:spcBef>
                <a:spcPts val="0"/>
              </a:spcBef>
              <a:buFont typeface="Wingdings" panose="05000000000000000000" pitchFamily="2" charset="2"/>
              <a:buChar char="ü"/>
            </a:pPr>
            <a:r>
              <a:rPr lang="en-US" sz="1800" b="1" i="0" u="none" strike="noStrike" dirty="0">
                <a:solidFill>
                  <a:srgbClr val="000000"/>
                </a:solidFill>
                <a:effectLst/>
                <a:latin typeface="Arial" panose="020B0604020202020204" pitchFamily="34" charset="0"/>
              </a:rPr>
              <a:t>RAM</a:t>
            </a:r>
            <a:r>
              <a:rPr lang="en-US" sz="1800" b="0" i="0" u="none" strike="noStrike" dirty="0">
                <a:solidFill>
                  <a:srgbClr val="000000"/>
                </a:solidFill>
                <a:effectLst/>
                <a:latin typeface="Arial" panose="020B0604020202020204" pitchFamily="34" charset="0"/>
              </a:rPr>
              <a:t>: 4 GB or more (8 GB recommended for better performance).</a:t>
            </a:r>
            <a:endParaRPr lang="en-US" sz="1800" b="0" i="0" u="none" strike="noStrike" dirty="0">
              <a:solidFill>
                <a:srgbClr val="000000"/>
              </a:solidFill>
              <a:effectLst/>
              <a:latin typeface="Calibri" panose="020F0502020204030204" pitchFamily="34" charset="0"/>
            </a:endParaRPr>
          </a:p>
          <a:p>
            <a:pPr lvl="1" fontAlgn="base">
              <a:spcBef>
                <a:spcPts val="0"/>
              </a:spcBef>
              <a:buFont typeface="Wingdings" panose="05000000000000000000" pitchFamily="2" charset="2"/>
              <a:buChar char="ü"/>
            </a:pPr>
            <a:r>
              <a:rPr lang="en-US" sz="1800" b="1" i="0" u="none" strike="noStrike" dirty="0">
                <a:solidFill>
                  <a:srgbClr val="000000"/>
                </a:solidFill>
                <a:effectLst/>
                <a:latin typeface="Arial" panose="020B0604020202020204" pitchFamily="34" charset="0"/>
              </a:rPr>
              <a:t>Storage</a:t>
            </a:r>
            <a:r>
              <a:rPr lang="en-US" sz="1800" b="0" i="0" u="none" strike="noStrike" dirty="0">
                <a:solidFill>
                  <a:srgbClr val="000000"/>
                </a:solidFill>
                <a:effectLst/>
                <a:latin typeface="Arial" panose="020B0604020202020204" pitchFamily="34" charset="0"/>
              </a:rPr>
              <a:t>: At least 10 GB of free disk space.</a:t>
            </a:r>
            <a:endParaRPr lang="en-US" sz="1800" b="0" i="0" u="none" strike="noStrike" dirty="0">
              <a:solidFill>
                <a:srgbClr val="000000"/>
              </a:solidFill>
              <a:effectLst/>
              <a:latin typeface="Calibri" panose="020F0502020204030204" pitchFamily="34" charset="0"/>
            </a:endParaRPr>
          </a:p>
          <a:p>
            <a:pPr lvl="1" fontAlgn="base">
              <a:spcBef>
                <a:spcPts val="0"/>
              </a:spcBef>
              <a:buFont typeface="Wingdings" panose="05000000000000000000" pitchFamily="2" charset="2"/>
              <a:buChar char="ü"/>
            </a:pPr>
            <a:r>
              <a:rPr lang="en-US" sz="1800" b="1" i="0" u="none" strike="noStrike" dirty="0">
                <a:solidFill>
                  <a:srgbClr val="000000"/>
                </a:solidFill>
                <a:effectLst/>
                <a:latin typeface="Arial" panose="020B0604020202020204" pitchFamily="34" charset="0"/>
              </a:rPr>
              <a:t>Operating System</a:t>
            </a:r>
            <a:r>
              <a:rPr lang="en-US" sz="1800" b="0" i="0" u="none" strike="noStrike" dirty="0">
                <a:solidFill>
                  <a:srgbClr val="000000"/>
                </a:solidFill>
                <a:effectLst/>
                <a:latin typeface="Arial" panose="020B0604020202020204" pitchFamily="34" charset="0"/>
              </a:rPr>
              <a:t>: Windows 7 or higher (64-bit preferred).</a:t>
            </a:r>
            <a:endParaRPr lang="en-US" sz="1800" b="0" i="0" u="none" strike="noStrike" dirty="0">
              <a:solidFill>
                <a:srgbClr val="000000"/>
              </a:solidFill>
              <a:effectLst/>
              <a:latin typeface="Calibri" panose="020F0502020204030204" pitchFamily="34" charset="0"/>
            </a:endParaRPr>
          </a:p>
          <a:p>
            <a:pPr lvl="1" fontAlgn="base">
              <a:spcBef>
                <a:spcPts val="0"/>
              </a:spcBef>
              <a:buFont typeface="Wingdings" panose="05000000000000000000" pitchFamily="2" charset="2"/>
              <a:buChar char="ü"/>
            </a:pPr>
            <a:r>
              <a:rPr lang="en-US" sz="1800" b="1" i="0" u="none" strike="noStrike" dirty="0">
                <a:solidFill>
                  <a:srgbClr val="000000"/>
                </a:solidFill>
                <a:effectLst/>
                <a:latin typeface="Arial" panose="020B0604020202020204" pitchFamily="34" charset="0"/>
              </a:rPr>
              <a:t>Display</a:t>
            </a:r>
            <a:r>
              <a:rPr lang="en-US" sz="1800" b="0" i="0" u="none" strike="noStrike" dirty="0">
                <a:solidFill>
                  <a:srgbClr val="000000"/>
                </a:solidFill>
                <a:effectLst/>
                <a:latin typeface="Arial" panose="020B0604020202020204" pitchFamily="34" charset="0"/>
              </a:rPr>
              <a:t>: 1024x768 resolution or higher.</a:t>
            </a:r>
            <a:endParaRPr lang="en-US" sz="1800" dirty="0"/>
          </a:p>
          <a:p>
            <a:pPr>
              <a:buFont typeface="Arial" panose="020B0604020202020204" pitchFamily="34" charset="0"/>
              <a:buChar char="•"/>
            </a:pPr>
            <a:r>
              <a:rPr lang="en-US" dirty="0"/>
              <a:t>Software</a:t>
            </a:r>
          </a:p>
          <a:p>
            <a:pPr marL="857250" lvl="1" fontAlgn="base">
              <a:spcBef>
                <a:spcPts val="1200"/>
              </a:spcBef>
              <a:buFont typeface="Wingdings" panose="05000000000000000000" pitchFamily="2" charset="2"/>
              <a:buChar char="ü"/>
            </a:pPr>
            <a:r>
              <a:rPr lang="en-US" sz="1600" b="1" i="0" u="none" strike="noStrike" dirty="0">
                <a:solidFill>
                  <a:srgbClr val="000000"/>
                </a:solidFill>
                <a:effectLst/>
                <a:latin typeface="Arial" panose="020B0604020202020204" pitchFamily="34" charset="0"/>
              </a:rPr>
              <a:t>Microsoft Excel </a:t>
            </a:r>
            <a:r>
              <a:rPr lang="en-US" sz="1600" b="0" i="0" u="none" strike="noStrike" dirty="0">
                <a:solidFill>
                  <a:srgbClr val="000000"/>
                </a:solidFill>
                <a:effectLst/>
                <a:latin typeface="Arial" panose="020B0604020202020204" pitchFamily="34" charset="0"/>
              </a:rPr>
              <a:t>(2016 or later) for managing input data.</a:t>
            </a:r>
          </a:p>
          <a:p>
            <a:pPr marL="857250" lvl="1" fontAlgn="base">
              <a:spcBef>
                <a:spcPts val="1200"/>
              </a:spcBef>
              <a:buFont typeface="Wingdings" panose="05000000000000000000" pitchFamily="2" charset="2"/>
              <a:buChar char="ü"/>
            </a:pPr>
            <a:r>
              <a:rPr lang="en-US" sz="1600" b="1" i="0" u="none" strike="noStrike" dirty="0">
                <a:solidFill>
                  <a:srgbClr val="000000"/>
                </a:solidFill>
                <a:effectLst/>
                <a:latin typeface="Arial" panose="020B0604020202020204" pitchFamily="34" charset="0"/>
              </a:rPr>
              <a:t>UiPath Studio </a:t>
            </a:r>
            <a:r>
              <a:rPr lang="en-US" sz="1600" b="0" i="0" u="none" strike="noStrike" dirty="0">
                <a:solidFill>
                  <a:srgbClr val="000000"/>
                </a:solidFill>
                <a:effectLst/>
                <a:latin typeface="Arial" panose="020B0604020202020204" pitchFamily="34" charset="0"/>
              </a:rPr>
              <a:t>(latest version recommended).</a:t>
            </a:r>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Functional Description</a:t>
            </a:r>
            <a:endParaRPr lang="en-IN" b="1" dirty="0">
              <a:latin typeface="+mj-lt"/>
            </a:endParaRPr>
          </a:p>
        </p:txBody>
      </p:sp>
      <p:sp>
        <p:nvSpPr>
          <p:cNvPr id="3" name="Content Placeholder 2"/>
          <p:cNvSpPr>
            <a:spLocks noGrp="1"/>
          </p:cNvSpPr>
          <p:nvPr>
            <p:ph idx="1"/>
          </p:nvPr>
        </p:nvSpPr>
        <p:spPr/>
        <p:txBody>
          <a:bodyPr>
            <a:normAutofit/>
          </a:bodyPr>
          <a:lstStyle/>
          <a:p>
            <a:pPr marL="0" indent="0" rtl="0" fontAlgn="base">
              <a:spcBef>
                <a:spcPts val="0"/>
              </a:spcBef>
              <a:spcAft>
                <a:spcPts val="0"/>
              </a:spcAft>
              <a:buNone/>
            </a:pPr>
            <a:r>
              <a:rPr lang="en-IN" b="1" dirty="0"/>
              <a:t>Module 1: Data Scraping Process</a:t>
            </a:r>
          </a:p>
          <a:p>
            <a:pPr marL="0" indent="0" algn="just" fontAlgn="base">
              <a:spcBef>
                <a:spcPts val="0"/>
              </a:spcBef>
              <a:buNone/>
            </a:pPr>
            <a:r>
              <a:rPr lang="en-US" sz="2000" dirty="0"/>
              <a:t>The scraper logs into the Zillow website navigates to the location, and extracts structured property data using UiPath's web automation features.</a:t>
            </a:r>
          </a:p>
          <a:p>
            <a:pPr marL="0" indent="0" algn="just" fontAlgn="base">
              <a:spcBef>
                <a:spcPts val="0"/>
              </a:spcBef>
              <a:buNone/>
            </a:pPr>
            <a:r>
              <a:rPr lang="en-IN" b="1" dirty="0"/>
              <a:t>Module 2: Email Sending Functionality</a:t>
            </a:r>
          </a:p>
          <a:p>
            <a:pPr marL="0" indent="0" algn="just" fontAlgn="base">
              <a:spcBef>
                <a:spcPts val="0"/>
              </a:spcBef>
              <a:buNone/>
            </a:pPr>
            <a:r>
              <a:rPr lang="en-US" sz="2000" dirty="0"/>
              <a:t>Using UiPath's email activities, the project ensures secure and automated delivery of the property data file to the user.</a:t>
            </a:r>
          </a:p>
          <a:p>
            <a:pPr marL="0" indent="0" algn="just" fontAlgn="base">
              <a:spcBef>
                <a:spcPts val="0"/>
              </a:spcBef>
              <a:buNone/>
            </a:pPr>
            <a:endParaRPr lang="en-US" sz="2000" dirty="0"/>
          </a:p>
          <a:p>
            <a:pPr marL="0" indent="0" algn="just" fontAlgn="base">
              <a:spcBef>
                <a:spcPts val="0"/>
              </a:spcBef>
              <a:buNone/>
            </a:pPr>
            <a:r>
              <a:rPr lang="en-IN" b="1" dirty="0"/>
              <a:t>Additional Functional Features:</a:t>
            </a:r>
          </a:p>
          <a:p>
            <a:pPr marL="857250" lvl="1" indent="-457200" algn="just" fontAlgn="base">
              <a:spcBef>
                <a:spcPts val="0"/>
              </a:spcBef>
            </a:pPr>
            <a:r>
              <a:rPr lang="en-IN" b="1" dirty="0"/>
              <a:t>Scalability for Large Datasets: </a:t>
            </a:r>
            <a:r>
              <a:rPr lang="en-US" dirty="0"/>
              <a:t>Handles multiple pages of property listings if the results exceed a single webpage, ensuring comprehensive data collection.</a:t>
            </a:r>
            <a:endParaRPr lang="en-IN" b="1" dirty="0"/>
          </a:p>
          <a:p>
            <a:pPr marL="0" indent="0" algn="just" fontAlgn="base">
              <a:spcBef>
                <a:spcPts val="0"/>
              </a:spcBef>
              <a:buNone/>
            </a:pPr>
            <a:endParaRPr lang="en-US" sz="2000" b="1" i="0" u="none" strike="noStrike" dirty="0">
              <a:solidFill>
                <a:srgbClr val="000000"/>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2365577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Flow Diagram</a:t>
            </a:r>
            <a:endParaRPr lang="en-IN" b="1" dirty="0">
              <a:latin typeface="+mj-lt"/>
            </a:endParaRPr>
          </a:p>
        </p:txBody>
      </p:sp>
      <p:pic>
        <p:nvPicPr>
          <p:cNvPr id="5" name="Content Placeholder 4" descr="A diagram of a data flow&#10;&#10;Description automatically generated">
            <a:extLst>
              <a:ext uri="{FF2B5EF4-FFF2-40B4-BE49-F238E27FC236}">
                <a16:creationId xmlns:a16="http://schemas.microsoft.com/office/drawing/2014/main" id="{FD9E96C8-97F8-E048-A5D8-22FA4ABCD674}"/>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rcRect b="5012"/>
          <a:stretch/>
        </p:blipFill>
        <p:spPr>
          <a:xfrm>
            <a:off x="3448951" y="990600"/>
            <a:ext cx="2246098" cy="5066692"/>
          </a:xfrm>
        </p:spPr>
      </p:pic>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Sequence Diagram</a:t>
            </a:r>
            <a:endParaRPr lang="en-IN" b="1" dirty="0">
              <a:latin typeface="+mj-lt"/>
            </a:endParaRPr>
          </a:p>
        </p:txBody>
      </p:sp>
      <p:pic>
        <p:nvPicPr>
          <p:cNvPr id="5" name="Content Placeholder 4" descr="A screenshot of a computer&#10;&#10;Description automatically generated">
            <a:extLst>
              <a:ext uri="{FF2B5EF4-FFF2-40B4-BE49-F238E27FC236}">
                <a16:creationId xmlns:a16="http://schemas.microsoft.com/office/drawing/2014/main" id="{1EE2E29A-24FE-5F6D-2443-9F266D109A5C}"/>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b="7712"/>
          <a:stretch/>
        </p:blipFill>
        <p:spPr>
          <a:xfrm>
            <a:off x="1339353" y="990600"/>
            <a:ext cx="6465294" cy="4922676"/>
          </a:xfrm>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Process Design</a:t>
            </a:r>
            <a:endParaRPr lang="en-IN" b="1" dirty="0">
              <a:latin typeface="+mj-lt"/>
            </a:endParaRPr>
          </a:p>
        </p:txBody>
      </p:sp>
      <p:sp>
        <p:nvSpPr>
          <p:cNvPr id="3" name="Content Placeholder 2"/>
          <p:cNvSpPr>
            <a:spLocks noGrp="1"/>
          </p:cNvSpPr>
          <p:nvPr>
            <p:ph idx="1"/>
          </p:nvPr>
        </p:nvSpPr>
        <p:spPr/>
        <p:txBody>
          <a:bodyPr>
            <a:normAutofit lnSpcReduction="10000"/>
          </a:bodyPr>
          <a:lstStyle/>
          <a:p>
            <a:pPr marL="0" indent="0" algn="just">
              <a:buNone/>
            </a:pPr>
            <a:r>
              <a:rPr lang="en-US" b="1" dirty="0"/>
              <a:t>Main Process</a:t>
            </a:r>
          </a:p>
          <a:p>
            <a:pPr marL="857250" lvl="1" indent="-457200" algn="just">
              <a:buFont typeface="+mj-lt"/>
              <a:buAutoNum type="arabicPeriod"/>
            </a:pPr>
            <a:r>
              <a:rPr lang="en-US" sz="1800" b="1" dirty="0"/>
              <a:t>User Input Collection:</a:t>
            </a:r>
            <a:r>
              <a:rPr lang="en-US" sz="1800" dirty="0"/>
              <a:t> Gather location and email from the user.</a:t>
            </a:r>
          </a:p>
          <a:p>
            <a:pPr marL="857250" lvl="1" indent="-457200" algn="just">
              <a:buFont typeface="+mj-lt"/>
              <a:buAutoNum type="arabicPeriod"/>
            </a:pPr>
            <a:r>
              <a:rPr lang="en-US" sz="1800" b="1" dirty="0"/>
              <a:t>Data Extraction:</a:t>
            </a:r>
            <a:r>
              <a:rPr lang="en-US" sz="1800" dirty="0"/>
              <a:t> Scrape property details from Zillow.</a:t>
            </a:r>
          </a:p>
          <a:p>
            <a:pPr marL="857250" lvl="1" indent="-457200" algn="just">
              <a:buFont typeface="+mj-lt"/>
              <a:buAutoNum type="arabicPeriod"/>
            </a:pPr>
            <a:r>
              <a:rPr lang="en-US" sz="1800" b="1" dirty="0"/>
              <a:t>Data Storage:</a:t>
            </a:r>
            <a:r>
              <a:rPr lang="en-US" sz="1800" dirty="0"/>
              <a:t> Save the data into an Excel file.</a:t>
            </a:r>
          </a:p>
          <a:p>
            <a:pPr marL="857250" lvl="1" indent="-457200" algn="just">
              <a:buFont typeface="+mj-lt"/>
              <a:buAutoNum type="arabicPeriod"/>
            </a:pPr>
            <a:r>
              <a:rPr lang="en-US" sz="1800" b="1" dirty="0"/>
              <a:t>Email Delivery:</a:t>
            </a:r>
            <a:r>
              <a:rPr lang="en-US" sz="1800" dirty="0"/>
              <a:t> Send the Excel file to the user's email.</a:t>
            </a:r>
            <a:endParaRPr lang="en-US" sz="1800" b="1" dirty="0"/>
          </a:p>
          <a:p>
            <a:pPr marL="0" indent="0" algn="just">
              <a:buNone/>
            </a:pPr>
            <a:r>
              <a:rPr lang="en-US" b="1" dirty="0"/>
              <a:t>Sub Process</a:t>
            </a:r>
          </a:p>
          <a:p>
            <a:pPr lvl="1" indent="-342900" algn="just">
              <a:buFont typeface="+mj-lt"/>
              <a:buAutoNum type="arabicPeriod"/>
            </a:pPr>
            <a:r>
              <a:rPr lang="en-IN" sz="1800" b="1" dirty="0"/>
              <a:t>Web Scraping:</a:t>
            </a:r>
          </a:p>
          <a:p>
            <a:pPr lvl="2" indent="-342900" algn="just"/>
            <a:r>
              <a:rPr lang="en-US" dirty="0"/>
              <a:t>Access Zillow and navigate to the specified location page.</a:t>
            </a:r>
            <a:endParaRPr lang="en-IN" b="1" dirty="0"/>
          </a:p>
          <a:p>
            <a:pPr lvl="2" indent="-342900" algn="just"/>
            <a:r>
              <a:rPr lang="en-US" dirty="0"/>
              <a:t>Extract property details like address, price, square footage, and bedroom/bathroom counts.</a:t>
            </a:r>
            <a:endParaRPr lang="en-US" b="1" dirty="0"/>
          </a:p>
          <a:p>
            <a:pPr lvl="1" indent="-342900" algn="just">
              <a:buFont typeface="+mj-lt"/>
              <a:buAutoNum type="arabicPeriod"/>
            </a:pPr>
            <a:r>
              <a:rPr lang="en-IN" sz="1800" b="1" dirty="0"/>
              <a:t>Data Organization:</a:t>
            </a:r>
          </a:p>
          <a:p>
            <a:pPr lvl="2" indent="-342900" algn="just"/>
            <a:r>
              <a:rPr lang="en-US" dirty="0"/>
              <a:t>Format the scraped data into an Excel sheet with clear headers.</a:t>
            </a:r>
            <a:endParaRPr lang="en-IN" b="1" dirty="0"/>
          </a:p>
          <a:p>
            <a:pPr lvl="1" indent="-342900" algn="just">
              <a:buFont typeface="+mj-lt"/>
              <a:buAutoNum type="arabicPeriod"/>
            </a:pPr>
            <a:r>
              <a:rPr lang="en-IN" sz="1800" b="1" dirty="0"/>
              <a:t>Email Automation:</a:t>
            </a:r>
          </a:p>
          <a:p>
            <a:pPr lvl="2" indent="-342900" algn="just"/>
            <a:r>
              <a:rPr lang="en-US" dirty="0"/>
              <a:t>Attach the Excel file and send it to the provided email address.</a:t>
            </a:r>
            <a:endParaRPr lang="en-US" b="1" dirty="0"/>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Implementation</a:t>
            </a:r>
            <a:endParaRPr lang="en-IN" b="1" dirty="0">
              <a:latin typeface="+mj-lt"/>
            </a:endParaRPr>
          </a:p>
        </p:txBody>
      </p:sp>
      <p:sp>
        <p:nvSpPr>
          <p:cNvPr id="3" name="Content Placeholder 2"/>
          <p:cNvSpPr>
            <a:spLocks noGrp="1"/>
          </p:cNvSpPr>
          <p:nvPr>
            <p:ph idx="1"/>
          </p:nvPr>
        </p:nvSpPr>
        <p:spPr/>
        <p:txBody>
          <a:bodyPr>
            <a:normAutofit/>
          </a:bodyPr>
          <a:lstStyle/>
          <a:p>
            <a:pPr marL="0" indent="0" algn="just">
              <a:buNone/>
            </a:pPr>
            <a:r>
              <a:rPr lang="en-US" dirty="0"/>
              <a:t>The "Automated Real Estate Data Scraper" was implemented using UiPath's RPA (Robotic Process Automation) platform, leveraging its powerful automation tools for web scraping and email integration. The key steps in implementation include:</a:t>
            </a:r>
          </a:p>
          <a:p>
            <a:pPr algn="just"/>
            <a:r>
              <a:rPr lang="en-US" sz="2000" b="1" dirty="0"/>
              <a:t>Input Collection:</a:t>
            </a:r>
            <a:r>
              <a:rPr lang="en-US" sz="2000" dirty="0"/>
              <a:t> A user interface in UiPath captures the location and email address</a:t>
            </a:r>
          </a:p>
          <a:p>
            <a:pPr algn="just"/>
            <a:r>
              <a:rPr lang="en-US" sz="2000" b="1" dirty="0"/>
              <a:t>Web Automation:</a:t>
            </a:r>
            <a:r>
              <a:rPr lang="en-US" sz="2000" dirty="0"/>
              <a:t> UiPath's browser automation activities navigate the Zillow website and extract property data</a:t>
            </a:r>
            <a:r>
              <a:rPr lang="en-US" sz="1600" dirty="0"/>
              <a:t>.</a:t>
            </a:r>
          </a:p>
          <a:p>
            <a:pPr algn="just"/>
            <a:r>
              <a:rPr lang="en-US" sz="2000" b="1" dirty="0"/>
              <a:t>Data Storage:</a:t>
            </a:r>
            <a:r>
              <a:rPr lang="en-US" sz="2000" dirty="0"/>
              <a:t> The extracted data is structured into an Excel file using UiPath's file handling capabilities.</a:t>
            </a:r>
          </a:p>
          <a:p>
            <a:pPr algn="just"/>
            <a:r>
              <a:rPr lang="en-US" sz="2000" b="1" dirty="0"/>
              <a:t>Email Delivery:</a:t>
            </a:r>
            <a:r>
              <a:rPr lang="en-US" sz="2000" dirty="0"/>
              <a:t> The system uses email automation activities to send the file to the user.</a:t>
            </a:r>
            <a:endParaRPr lang="en-US" sz="2000" b="1" dirty="0"/>
          </a:p>
        </p:txBody>
      </p:sp>
    </p:spTree>
    <p:custDataLst>
      <p:tags r:id="rId1"/>
    </p:custDataLst>
    <p:extLst>
      <p:ext uri="{BB962C8B-B14F-4D97-AF65-F5344CB8AC3E}">
        <p14:creationId xmlns:p14="http://schemas.microsoft.com/office/powerpoint/2010/main" val="2136899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b="1" dirty="0"/>
              <a:t>Screenshots of Workflow</a:t>
            </a:r>
          </a:p>
        </p:txBody>
      </p:sp>
      <p:pic>
        <p:nvPicPr>
          <p:cNvPr id="5" name="Picture 4">
            <a:extLst>
              <a:ext uri="{FF2B5EF4-FFF2-40B4-BE49-F238E27FC236}">
                <a16:creationId xmlns:a16="http://schemas.microsoft.com/office/drawing/2014/main" id="{3F65AA07-8B19-950D-496E-B554402BCAA9}"/>
              </a:ext>
            </a:extLst>
          </p:cNvPr>
          <p:cNvPicPr>
            <a:picLocks noChangeAspect="1"/>
          </p:cNvPicPr>
          <p:nvPr/>
        </p:nvPicPr>
        <p:blipFill>
          <a:blip r:embed="rId4"/>
          <a:srcRect l="2161" t="-23734" r="5135" b="23734"/>
          <a:stretch/>
        </p:blipFill>
        <p:spPr>
          <a:xfrm>
            <a:off x="1151620" y="-630342"/>
            <a:ext cx="3096180" cy="7047674"/>
          </a:xfrm>
          <a:prstGeom prst="rect">
            <a:avLst/>
          </a:prstGeom>
        </p:spPr>
      </p:pic>
      <p:pic>
        <p:nvPicPr>
          <p:cNvPr id="7" name="Picture 6">
            <a:extLst>
              <a:ext uri="{FF2B5EF4-FFF2-40B4-BE49-F238E27FC236}">
                <a16:creationId xmlns:a16="http://schemas.microsoft.com/office/drawing/2014/main" id="{FF56B6D2-C9BB-AE5B-318F-1AC352E6D117}"/>
              </a:ext>
            </a:extLst>
          </p:cNvPr>
          <p:cNvPicPr>
            <a:picLocks noChangeAspect="1"/>
          </p:cNvPicPr>
          <p:nvPr/>
        </p:nvPicPr>
        <p:blipFill>
          <a:blip r:embed="rId5"/>
          <a:srcRect r="2274" b="80101"/>
          <a:stretch/>
        </p:blipFill>
        <p:spPr>
          <a:xfrm>
            <a:off x="4752020" y="1031686"/>
            <a:ext cx="3709463" cy="5349642"/>
          </a:xfrm>
          <a:prstGeom prst="rect">
            <a:avLst/>
          </a:prstGeom>
        </p:spPr>
      </p:pic>
    </p:spTree>
    <p:custDataLst>
      <p:tags r:id="rId1"/>
    </p:custDataLst>
    <p:extLst>
      <p:ext uri="{BB962C8B-B14F-4D97-AF65-F5344CB8AC3E}">
        <p14:creationId xmlns:p14="http://schemas.microsoft.com/office/powerpoint/2010/main" val="4216381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Testing</a:t>
            </a:r>
            <a:endParaRPr lang="en-IN" b="1" dirty="0">
              <a:latin typeface="+mj-lt"/>
            </a:endParaRPr>
          </a:p>
        </p:txBody>
      </p:sp>
      <p:pic>
        <p:nvPicPr>
          <p:cNvPr id="6" name="Picture 5" descr="A screen shot of a computer">
            <a:extLst>
              <a:ext uri="{FF2B5EF4-FFF2-40B4-BE49-F238E27FC236}">
                <a16:creationId xmlns:a16="http://schemas.microsoft.com/office/drawing/2014/main" id="{DED61FDF-B254-BE76-101B-676F9A6A0217}"/>
              </a:ext>
            </a:extLst>
          </p:cNvPr>
          <p:cNvPicPr>
            <a:picLocks noChangeAspect="1"/>
          </p:cNvPicPr>
          <p:nvPr/>
        </p:nvPicPr>
        <p:blipFill>
          <a:blip r:embed="rId4">
            <a:extLst>
              <a:ext uri="{28A0092B-C50C-407E-A947-70E740481C1C}">
                <a14:useLocalDpi xmlns:a14="http://schemas.microsoft.com/office/drawing/2010/main" val="0"/>
              </a:ext>
            </a:extLst>
          </a:blip>
          <a:srcRect t="1489"/>
          <a:stretch/>
        </p:blipFill>
        <p:spPr>
          <a:xfrm>
            <a:off x="629001" y="1853193"/>
            <a:ext cx="7883195" cy="3151616"/>
          </a:xfrm>
          <a:prstGeom prst="rect">
            <a:avLst/>
          </a:prstGeom>
        </p:spPr>
      </p:pic>
      <p:sp>
        <p:nvSpPr>
          <p:cNvPr id="8" name="TextBox 7">
            <a:extLst>
              <a:ext uri="{FF2B5EF4-FFF2-40B4-BE49-F238E27FC236}">
                <a16:creationId xmlns:a16="http://schemas.microsoft.com/office/drawing/2014/main" id="{54C2095A-F937-6FD0-C0D2-C753217999C0}"/>
              </a:ext>
            </a:extLst>
          </p:cNvPr>
          <p:cNvSpPr txBox="1"/>
          <p:nvPr/>
        </p:nvSpPr>
        <p:spPr>
          <a:xfrm>
            <a:off x="619537" y="1483861"/>
            <a:ext cx="2411366" cy="369332"/>
          </a:xfrm>
          <a:prstGeom prst="rect">
            <a:avLst/>
          </a:prstGeom>
          <a:noFill/>
        </p:spPr>
        <p:txBody>
          <a:bodyPr wrap="none" rtlCol="0">
            <a:spAutoFit/>
          </a:bodyPr>
          <a:lstStyle/>
          <a:p>
            <a:r>
              <a:rPr lang="en-IN" b="1" dirty="0"/>
              <a:t>Screenshot of Excel File</a:t>
            </a:r>
          </a:p>
        </p:txBody>
      </p:sp>
    </p:spTree>
    <p:custDataLst>
      <p:tags r:id="rId1"/>
    </p:custDataLst>
    <p:extLst>
      <p:ext uri="{BB962C8B-B14F-4D97-AF65-F5344CB8AC3E}">
        <p14:creationId xmlns:p14="http://schemas.microsoft.com/office/powerpoint/2010/main" val="1895021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Testing</a:t>
            </a:r>
            <a:endParaRPr lang="en-IN" b="1" dirty="0">
              <a:latin typeface="+mj-lt"/>
            </a:endParaRPr>
          </a:p>
        </p:txBody>
      </p:sp>
      <p:sp>
        <p:nvSpPr>
          <p:cNvPr id="8" name="TextBox 7">
            <a:extLst>
              <a:ext uri="{FF2B5EF4-FFF2-40B4-BE49-F238E27FC236}">
                <a16:creationId xmlns:a16="http://schemas.microsoft.com/office/drawing/2014/main" id="{54C2095A-F937-6FD0-C0D2-C753217999C0}"/>
              </a:ext>
            </a:extLst>
          </p:cNvPr>
          <p:cNvSpPr txBox="1"/>
          <p:nvPr/>
        </p:nvSpPr>
        <p:spPr>
          <a:xfrm>
            <a:off x="629816" y="1482995"/>
            <a:ext cx="2880853" cy="369332"/>
          </a:xfrm>
          <a:prstGeom prst="rect">
            <a:avLst/>
          </a:prstGeom>
          <a:noFill/>
        </p:spPr>
        <p:txBody>
          <a:bodyPr wrap="none" rtlCol="0">
            <a:spAutoFit/>
          </a:bodyPr>
          <a:lstStyle/>
          <a:p>
            <a:r>
              <a:rPr lang="en-IN" b="1" dirty="0"/>
              <a:t>Screenshot of Mail Received</a:t>
            </a:r>
          </a:p>
        </p:txBody>
      </p:sp>
      <p:pic>
        <p:nvPicPr>
          <p:cNvPr id="4" name="Picture 3" descr="A screenshot of a computer&#10;&#10;Description automatically generated">
            <a:extLst>
              <a:ext uri="{FF2B5EF4-FFF2-40B4-BE49-F238E27FC236}">
                <a16:creationId xmlns:a16="http://schemas.microsoft.com/office/drawing/2014/main" id="{F734781A-8E63-96D1-83D4-40AB1C661C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816" y="1852327"/>
            <a:ext cx="7884368" cy="3843382"/>
          </a:xfrm>
          <a:prstGeom prst="rect">
            <a:avLst/>
          </a:prstGeom>
        </p:spPr>
      </p:pic>
    </p:spTree>
    <p:custDataLst>
      <p:tags r:id="rId1"/>
    </p:custDataLst>
    <p:extLst>
      <p:ext uri="{BB962C8B-B14F-4D97-AF65-F5344CB8AC3E}">
        <p14:creationId xmlns:p14="http://schemas.microsoft.com/office/powerpoint/2010/main" val="609357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Conclusions</a:t>
            </a:r>
            <a:endParaRPr lang="en-IN" b="1" dirty="0">
              <a:latin typeface="+mj-lt"/>
            </a:endParaRPr>
          </a:p>
        </p:txBody>
      </p:sp>
      <p:sp>
        <p:nvSpPr>
          <p:cNvPr id="3" name="Content Placeholder 2"/>
          <p:cNvSpPr>
            <a:spLocks noGrp="1"/>
          </p:cNvSpPr>
          <p:nvPr>
            <p:ph idx="1"/>
          </p:nvPr>
        </p:nvSpPr>
        <p:spPr/>
        <p:txBody>
          <a:bodyPr>
            <a:normAutofit/>
          </a:bodyPr>
          <a:lstStyle/>
          <a:p>
            <a:pPr marL="0" indent="0" algn="just">
              <a:buNone/>
            </a:pPr>
            <a:r>
              <a:rPr lang="en-US" dirty="0"/>
              <a:t>The "Automated Real Estate Data Scraper" project demonstrates the power of UiPath in automating complex tasks such as web scraping and email notifications. It significantly reduces the time and effort required to gather real estate data while improving accuracy and accessibility</a:t>
            </a:r>
            <a:r>
              <a:rPr lang="en-US" sz="1400" dirty="0"/>
              <a:t>.</a:t>
            </a:r>
          </a:p>
          <a:p>
            <a:pPr marL="0" indent="0" algn="just">
              <a:buNone/>
            </a:pPr>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Future Enhancement</a:t>
            </a:r>
            <a:endParaRPr lang="en-IN" b="1" dirty="0">
              <a:latin typeface="+mj-lt"/>
            </a:endParaRPr>
          </a:p>
        </p:txBody>
      </p:sp>
      <p:sp>
        <p:nvSpPr>
          <p:cNvPr id="3" name="Content Placeholder 2"/>
          <p:cNvSpPr>
            <a:spLocks noGrp="1"/>
          </p:cNvSpPr>
          <p:nvPr>
            <p:ph idx="1"/>
          </p:nvPr>
        </p:nvSpPr>
        <p:spPr/>
        <p:txBody>
          <a:bodyPr>
            <a:normAutofit/>
          </a:bodyPr>
          <a:lstStyle/>
          <a:p>
            <a:pPr marL="457200" indent="-457200" algn="just">
              <a:buFont typeface="+mj-lt"/>
              <a:buAutoNum type="arabicPeriod"/>
            </a:pPr>
            <a:r>
              <a:rPr lang="en-US" b="1" dirty="0"/>
              <a:t>Integration with Multiple Real Estate Websites</a:t>
            </a:r>
            <a:endParaRPr lang="en-US" dirty="0"/>
          </a:p>
          <a:p>
            <a:pPr lvl="1" algn="just"/>
            <a:r>
              <a:rPr lang="en-US" dirty="0"/>
              <a:t>Expand the system to scrape data from multiple real estate platforms to provide users with a more comprehensive view of available properties.</a:t>
            </a:r>
          </a:p>
          <a:p>
            <a:pPr lvl="1" algn="just"/>
            <a:r>
              <a:rPr lang="en-US" dirty="0"/>
              <a:t>Implement a centralized database to consolidate data from different sources for easy comparison.</a:t>
            </a:r>
          </a:p>
          <a:p>
            <a:pPr marL="457200" indent="-457200" algn="just">
              <a:buFont typeface="+mj-lt"/>
              <a:buAutoNum type="arabicPeriod"/>
            </a:pPr>
            <a:r>
              <a:rPr lang="en-US" b="1" dirty="0"/>
              <a:t>Advanced Data Filtering</a:t>
            </a:r>
            <a:endParaRPr lang="en-US" dirty="0"/>
          </a:p>
          <a:p>
            <a:pPr lvl="1" algn="just"/>
            <a:r>
              <a:rPr lang="en-US" dirty="0"/>
              <a:t>Add advanced filtering options, such as property type, budget range, square footage, number of bedrooms, and additional amenities, to deliver more personalized results.</a:t>
            </a:r>
          </a:p>
          <a:p>
            <a:pPr marL="0" indent="0" algn="just">
              <a:buNone/>
            </a:pPr>
            <a:endParaRPr lang="en-US" dirty="0"/>
          </a:p>
        </p:txBody>
      </p:sp>
    </p:spTree>
    <p:custDataLst>
      <p:tags r:id="rId1"/>
    </p:custDataLst>
    <p:extLst>
      <p:ext uri="{BB962C8B-B14F-4D97-AF65-F5344CB8AC3E}">
        <p14:creationId xmlns:p14="http://schemas.microsoft.com/office/powerpoint/2010/main" val="1261040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References</a:t>
            </a:r>
            <a:endParaRPr lang="en-IN" b="1" dirty="0">
              <a:latin typeface="+mj-lt"/>
            </a:endParaRPr>
          </a:p>
        </p:txBody>
      </p:sp>
      <p:sp>
        <p:nvSpPr>
          <p:cNvPr id="3" name="Content Placeholder 2"/>
          <p:cNvSpPr>
            <a:spLocks noGrp="1"/>
          </p:cNvSpPr>
          <p:nvPr>
            <p:ph idx="1"/>
          </p:nvPr>
        </p:nvSpPr>
        <p:spPr/>
        <p:txBody>
          <a:bodyPr>
            <a:normAutofit/>
          </a:bodyPr>
          <a:lstStyle/>
          <a:p>
            <a:pPr marL="342900" marR="285750" lvl="0" indent="-342900">
              <a:lnSpc>
                <a:spcPct val="150000"/>
              </a:lnSpc>
              <a:spcBef>
                <a:spcPts val="1830"/>
              </a:spcBef>
              <a:spcAft>
                <a:spcPts val="0"/>
              </a:spcAft>
              <a:buFont typeface="+mj-lt"/>
              <a:buAutoNum type="arabicPeriod"/>
              <a:tabLst>
                <a:tab pos="1057275" algn="l"/>
              </a:tabLst>
            </a:pPr>
            <a:r>
              <a:rPr lang="en-IN" sz="1400" u="none" strike="noStrike" dirty="0" err="1">
                <a:effectLst/>
                <a:latin typeface="Times New Roman" panose="02020603050405020304" pitchFamily="18" charset="0"/>
                <a:ea typeface="Times New Roman" panose="02020603050405020304" pitchFamily="18" charset="0"/>
              </a:rPr>
              <a:t>Kuppusamy</a:t>
            </a:r>
            <a:r>
              <a:rPr lang="en-IN" sz="1400" u="none" strike="noStrike" dirty="0">
                <a:effectLst/>
                <a:latin typeface="Times New Roman" panose="02020603050405020304" pitchFamily="18" charset="0"/>
                <a:ea typeface="Times New Roman" panose="02020603050405020304" pitchFamily="18" charset="0"/>
              </a:rPr>
              <a:t>, </a:t>
            </a:r>
            <a:r>
              <a:rPr lang="en-IN" sz="1400" u="none" strike="noStrike" dirty="0" err="1">
                <a:effectLst/>
                <a:latin typeface="Times New Roman" panose="02020603050405020304" pitchFamily="18" charset="0"/>
                <a:ea typeface="Times New Roman" panose="02020603050405020304" pitchFamily="18" charset="0"/>
              </a:rPr>
              <a:t>Palanivel</a:t>
            </a:r>
            <a:r>
              <a:rPr lang="en-IN" sz="1400" u="none" strike="noStrike" dirty="0">
                <a:effectLst/>
                <a:latin typeface="Times New Roman" panose="02020603050405020304" pitchFamily="18" charset="0"/>
                <a:ea typeface="Times New Roman" panose="02020603050405020304" pitchFamily="18" charset="0"/>
              </a:rPr>
              <a:t> &amp; Joseph K, Suresh. (2020). </a:t>
            </a:r>
            <a:r>
              <a:rPr lang="en-IN" sz="1400" u="none" strike="noStrike" dirty="0">
                <a:solidFill>
                  <a:srgbClr val="0000FF"/>
                </a:solidFill>
                <a:effectLst/>
                <a:latin typeface="Times New Roman" panose="02020603050405020304" pitchFamily="18" charset="0"/>
                <a:ea typeface="Times New Roman" panose="02020603050405020304" pitchFamily="18" charset="0"/>
                <a:hlinkClick r:id="rId4"/>
              </a:rPr>
              <a:t>Robotic Process</a:t>
            </a:r>
            <a:r>
              <a:rPr lang="en-IN" sz="1400" u="none" strike="noStrike" dirty="0">
                <a:solidFill>
                  <a:srgbClr val="0000FF"/>
                </a:solidFill>
                <a:effectLst/>
                <a:latin typeface="Times New Roman" panose="02020603050405020304" pitchFamily="18" charset="0"/>
                <a:ea typeface="Times New Roman" panose="02020603050405020304" pitchFamily="18" charset="0"/>
              </a:rPr>
              <a:t> </a:t>
            </a:r>
            <a:r>
              <a:rPr lang="en-IN" sz="1400" u="none" strike="noStrike" dirty="0">
                <a:solidFill>
                  <a:srgbClr val="0000FF"/>
                </a:solidFill>
                <a:effectLst/>
                <a:latin typeface="Times New Roman" panose="02020603050405020304" pitchFamily="18" charset="0"/>
                <a:ea typeface="Times New Roman" panose="02020603050405020304" pitchFamily="18" charset="0"/>
                <a:hlinkClick r:id="rId4"/>
              </a:rPr>
              <a:t>Automation to Smart Education</a:t>
            </a:r>
            <a:r>
              <a:rPr lang="en-IN" sz="1400" u="none" strike="noStrike" dirty="0">
                <a:effectLst/>
                <a:latin typeface="Times New Roman" panose="02020603050405020304" pitchFamily="18" charset="0"/>
                <a:ea typeface="Times New Roman" panose="02020603050405020304" pitchFamily="18" charset="0"/>
              </a:rPr>
              <a:t>. 3775.</a:t>
            </a:r>
            <a:endParaRPr lang="en-IN" sz="1400" dirty="0">
              <a:effectLst/>
              <a:latin typeface="Arial" panose="020B0604020202020204" pitchFamily="34" charset="0"/>
              <a:ea typeface="Arial" panose="020B0604020202020204" pitchFamily="34" charset="0"/>
            </a:endParaRPr>
          </a:p>
          <a:p>
            <a:pPr marL="342900" marR="285750" lvl="0" indent="-342900" algn="just">
              <a:lnSpc>
                <a:spcPct val="150000"/>
              </a:lnSpc>
              <a:spcAft>
                <a:spcPts val="0"/>
              </a:spcAft>
              <a:buFont typeface="+mj-lt"/>
              <a:buAutoNum type="arabicPeriod"/>
              <a:tabLst>
                <a:tab pos="1057275" algn="l"/>
              </a:tabLst>
            </a:pPr>
            <a:r>
              <a:rPr lang="en-IN" sz="1400" u="none" strike="noStrike" dirty="0">
                <a:effectLst/>
                <a:latin typeface="Times New Roman" panose="02020603050405020304" pitchFamily="18" charset="0"/>
                <a:ea typeface="Times New Roman" panose="02020603050405020304" pitchFamily="18" charset="0"/>
              </a:rPr>
              <a:t>Patil, Dr &amp; Mane, Vinod &amp; Patil, </a:t>
            </a:r>
            <a:r>
              <a:rPr lang="en-IN" sz="1400" u="none" strike="noStrike" dirty="0" err="1">
                <a:effectLst/>
                <a:latin typeface="Times New Roman" panose="02020603050405020304" pitchFamily="18" charset="0"/>
                <a:ea typeface="Times New Roman" panose="02020603050405020304" pitchFamily="18" charset="0"/>
              </a:rPr>
              <a:t>Dr.</a:t>
            </a:r>
            <a:r>
              <a:rPr lang="en-IN" sz="1400" u="none" strike="noStrike" dirty="0">
                <a:effectLst/>
                <a:latin typeface="Times New Roman" panose="02020603050405020304" pitchFamily="18" charset="0"/>
                <a:ea typeface="Times New Roman" panose="02020603050405020304" pitchFamily="18" charset="0"/>
              </a:rPr>
              <a:t> (2019). </a:t>
            </a:r>
            <a:r>
              <a:rPr lang="en-IN" sz="1400" u="none" strike="noStrike" dirty="0">
                <a:solidFill>
                  <a:srgbClr val="0000FF"/>
                </a:solidFill>
                <a:effectLst/>
                <a:latin typeface="Times New Roman" panose="02020603050405020304" pitchFamily="18" charset="0"/>
                <a:ea typeface="Times New Roman" panose="02020603050405020304" pitchFamily="18" charset="0"/>
                <a:hlinkClick r:id="rId5"/>
              </a:rPr>
              <a:t>Social Innovation in</a:t>
            </a:r>
            <a:r>
              <a:rPr lang="en-IN" sz="1400" u="none" strike="noStrike" dirty="0">
                <a:solidFill>
                  <a:srgbClr val="0000FF"/>
                </a:solidFill>
                <a:effectLst/>
                <a:latin typeface="Times New Roman" panose="02020603050405020304" pitchFamily="18" charset="0"/>
                <a:ea typeface="Times New Roman" panose="02020603050405020304" pitchFamily="18" charset="0"/>
              </a:rPr>
              <a:t> </a:t>
            </a:r>
            <a:r>
              <a:rPr lang="en-IN" sz="1400" u="none" strike="noStrike" dirty="0">
                <a:solidFill>
                  <a:srgbClr val="0000FF"/>
                </a:solidFill>
                <a:effectLst/>
                <a:latin typeface="Times New Roman" panose="02020603050405020304" pitchFamily="18" charset="0"/>
                <a:ea typeface="Times New Roman" panose="02020603050405020304" pitchFamily="18" charset="0"/>
                <a:hlinkClick r:id="rId5"/>
              </a:rPr>
              <a:t>Education System by using Robotic Proces</a:t>
            </a:r>
            <a:r>
              <a:rPr lang="en-IN" sz="1400" u="sng" strike="noStrike" dirty="0">
                <a:solidFill>
                  <a:srgbClr val="0000FF"/>
                </a:solidFill>
                <a:effectLst/>
                <a:latin typeface="Times New Roman" panose="02020603050405020304" pitchFamily="18" charset="0"/>
                <a:ea typeface="Times New Roman" panose="02020603050405020304" pitchFamily="18" charset="0"/>
              </a:rPr>
              <a:t>s Automation</a:t>
            </a:r>
            <a:r>
              <a:rPr lang="en-IN" sz="1400" u="none" strike="noStrike" dirty="0">
                <a:solidFill>
                  <a:srgbClr val="0000FF"/>
                </a:solidFill>
                <a:effectLst/>
                <a:latin typeface="Times New Roman" panose="02020603050405020304" pitchFamily="18" charset="0"/>
                <a:ea typeface="Times New Roman" panose="02020603050405020304" pitchFamily="18" charset="0"/>
              </a:rPr>
              <a:t> </a:t>
            </a:r>
            <a:r>
              <a:rPr lang="en-IN" sz="1400" u="none" strike="noStrike" dirty="0">
                <a:effectLst/>
                <a:latin typeface="Times New Roman" panose="02020603050405020304" pitchFamily="18" charset="0"/>
                <a:ea typeface="Times New Roman" panose="02020603050405020304" pitchFamily="18" charset="0"/>
              </a:rPr>
              <a:t>(</a:t>
            </a:r>
            <a:r>
              <a:rPr lang="en-IN" sz="1400" u="none" strike="noStrike" dirty="0" err="1">
                <a:effectLst/>
                <a:latin typeface="Times New Roman" panose="02020603050405020304" pitchFamily="18" charset="0"/>
                <a:ea typeface="Times New Roman" panose="02020603050405020304" pitchFamily="18" charset="0"/>
              </a:rPr>
              <a:t>Rpa</a:t>
            </a:r>
            <a:r>
              <a:rPr lang="en-IN" sz="1400" u="none" strike="noStrike" dirty="0">
                <a:effectLst/>
                <a:latin typeface="Times New Roman" panose="02020603050405020304" pitchFamily="18" charset="0"/>
                <a:ea typeface="Times New Roman" panose="02020603050405020304" pitchFamily="18" charset="0"/>
              </a:rPr>
              <a:t>). International Journal of Innovative Technology and Exploring Engineering. 8. 3757-3760. 10.35940/ijitee.K2148.0981119.</a:t>
            </a:r>
            <a:endParaRPr lang="en-IN" sz="1400" u="none" strike="noStrike" dirty="0">
              <a:effectLst/>
              <a:latin typeface="Arial" panose="020B0604020202020204" pitchFamily="34" charset="0"/>
              <a:ea typeface="Arial" panose="020B0604020202020204" pitchFamily="34" charset="0"/>
            </a:endParaRPr>
          </a:p>
          <a:p>
            <a:pPr marL="342900" marR="285750" lvl="0" indent="-342900">
              <a:lnSpc>
                <a:spcPct val="150000"/>
              </a:lnSpc>
              <a:spcAft>
                <a:spcPts val="0"/>
              </a:spcAft>
              <a:buFont typeface="+mj-lt"/>
              <a:buAutoNum type="arabicPeriod"/>
              <a:tabLst>
                <a:tab pos="1057275" algn="l"/>
              </a:tabLst>
            </a:pPr>
            <a:r>
              <a:rPr lang="en-IN" sz="1400" u="none" strike="noStrike" dirty="0" err="1">
                <a:effectLst/>
                <a:latin typeface="Times New Roman" panose="02020603050405020304" pitchFamily="18" charset="0"/>
                <a:ea typeface="Times New Roman" panose="02020603050405020304" pitchFamily="18" charset="0"/>
              </a:rPr>
              <a:t>Elkhatat</a:t>
            </a:r>
            <a:r>
              <a:rPr lang="en-IN" sz="1400" u="none" strike="noStrike" dirty="0">
                <a:effectLst/>
                <a:latin typeface="Times New Roman" panose="02020603050405020304" pitchFamily="18" charset="0"/>
                <a:ea typeface="Times New Roman" panose="02020603050405020304" pitchFamily="18" charset="0"/>
              </a:rPr>
              <a:t>, A.M., </a:t>
            </a:r>
            <a:r>
              <a:rPr lang="en-IN" sz="1400" u="none" strike="noStrike" dirty="0" err="1">
                <a:effectLst/>
                <a:latin typeface="Times New Roman" panose="02020603050405020304" pitchFamily="18" charset="0"/>
                <a:ea typeface="Times New Roman" panose="02020603050405020304" pitchFamily="18" charset="0"/>
              </a:rPr>
              <a:t>Elsaid</a:t>
            </a:r>
            <a:r>
              <a:rPr lang="en-IN" sz="1400" u="none" strike="noStrike" dirty="0">
                <a:effectLst/>
                <a:latin typeface="Times New Roman" panose="02020603050405020304" pitchFamily="18" charset="0"/>
                <a:ea typeface="Times New Roman" panose="02020603050405020304" pitchFamily="18" charset="0"/>
              </a:rPr>
              <a:t>, K. &amp; </a:t>
            </a:r>
            <a:r>
              <a:rPr lang="en-IN" sz="1400" u="none" strike="noStrike" dirty="0" err="1">
                <a:effectLst/>
                <a:latin typeface="Times New Roman" panose="02020603050405020304" pitchFamily="18" charset="0"/>
                <a:ea typeface="Times New Roman" panose="02020603050405020304" pitchFamily="18" charset="0"/>
              </a:rPr>
              <a:t>Almeer</a:t>
            </a:r>
            <a:r>
              <a:rPr lang="en-IN" sz="1400" u="none" strike="noStrike" dirty="0">
                <a:effectLst/>
                <a:latin typeface="Times New Roman" panose="02020603050405020304" pitchFamily="18" charset="0"/>
                <a:ea typeface="Times New Roman" panose="02020603050405020304" pitchFamily="18" charset="0"/>
              </a:rPr>
              <a:t>, S. </a:t>
            </a:r>
            <a:r>
              <a:rPr lang="en-IN" sz="1400" u="none" strike="noStrike" dirty="0">
                <a:solidFill>
                  <a:srgbClr val="0000FF"/>
                </a:solidFill>
                <a:effectLst/>
                <a:latin typeface="Times New Roman" panose="02020603050405020304" pitchFamily="18" charset="0"/>
                <a:ea typeface="Times New Roman" panose="02020603050405020304" pitchFamily="18" charset="0"/>
                <a:hlinkClick r:id="rId6"/>
              </a:rPr>
              <a:t>Evaluating the efficacy of</a:t>
            </a:r>
            <a:r>
              <a:rPr lang="en-IN" sz="1400" u="none" strike="noStrike" dirty="0">
                <a:effectLst/>
                <a:latin typeface="Times New Roman" panose="02020603050405020304" pitchFamily="18" charset="0"/>
                <a:ea typeface="Times New Roman" panose="02020603050405020304" pitchFamily="18" charset="0"/>
              </a:rPr>
              <a:t> </a:t>
            </a:r>
            <a:r>
              <a:rPr lang="en-IN" sz="1400" u="none" strike="noStrike" dirty="0">
                <a:solidFill>
                  <a:srgbClr val="0000FF"/>
                </a:solidFill>
                <a:effectLst/>
                <a:latin typeface="Times New Roman" panose="02020603050405020304" pitchFamily="18" charset="0"/>
                <a:ea typeface="Times New Roman" panose="02020603050405020304" pitchFamily="18" charset="0"/>
                <a:hlinkClick r:id="rId6"/>
              </a:rPr>
              <a:t>AI content detection tools in differentiating between human and AI-</a:t>
            </a:r>
            <a:r>
              <a:rPr lang="en-IN" sz="1400" u="none" strike="noStrike" dirty="0">
                <a:effectLst/>
                <a:latin typeface="Times New Roman" panose="02020603050405020304" pitchFamily="18" charset="0"/>
                <a:ea typeface="Times New Roman" panose="02020603050405020304" pitchFamily="18" charset="0"/>
              </a:rPr>
              <a:t> </a:t>
            </a:r>
            <a:r>
              <a:rPr lang="en-IN" sz="1400" u="none" strike="noStrike" dirty="0">
                <a:solidFill>
                  <a:srgbClr val="0000FF"/>
                </a:solidFill>
                <a:effectLst/>
                <a:latin typeface="Times New Roman" panose="02020603050405020304" pitchFamily="18" charset="0"/>
                <a:ea typeface="Times New Roman" panose="02020603050405020304" pitchFamily="18" charset="0"/>
                <a:hlinkClick r:id="rId6"/>
              </a:rPr>
              <a:t>generated text</a:t>
            </a:r>
            <a:r>
              <a:rPr lang="en-IN" sz="1400" u="none" strike="noStrike" dirty="0">
                <a:effectLst/>
                <a:latin typeface="Times New Roman" panose="02020603050405020304" pitchFamily="18" charset="0"/>
                <a:ea typeface="Times New Roman" panose="02020603050405020304" pitchFamily="18" charset="0"/>
              </a:rPr>
              <a:t>. </a:t>
            </a:r>
            <a:r>
              <a:rPr lang="en-IN" sz="1400" i="1" u="none" strike="noStrike" dirty="0">
                <a:effectLst/>
                <a:latin typeface="Times New Roman" panose="02020603050405020304" pitchFamily="18" charset="0"/>
                <a:ea typeface="Times New Roman" panose="02020603050405020304" pitchFamily="18" charset="0"/>
              </a:rPr>
              <a:t>Int J </a:t>
            </a:r>
            <a:r>
              <a:rPr lang="en-IN" sz="1400" i="1" u="none" strike="noStrike" dirty="0" err="1">
                <a:effectLst/>
                <a:latin typeface="Times New Roman" panose="02020603050405020304" pitchFamily="18" charset="0"/>
                <a:ea typeface="Times New Roman" panose="02020603050405020304" pitchFamily="18" charset="0"/>
              </a:rPr>
              <a:t>Educ</a:t>
            </a:r>
            <a:r>
              <a:rPr lang="en-IN" sz="1400" i="1" u="none" strike="noStrike" dirty="0">
                <a:effectLst/>
                <a:latin typeface="Times New Roman" panose="02020603050405020304" pitchFamily="18" charset="0"/>
                <a:ea typeface="Times New Roman" panose="02020603050405020304" pitchFamily="18" charset="0"/>
              </a:rPr>
              <a:t> </a:t>
            </a:r>
            <a:r>
              <a:rPr lang="en-IN" sz="1400" i="1" u="none" strike="noStrike" dirty="0" err="1">
                <a:effectLst/>
                <a:latin typeface="Times New Roman" panose="02020603050405020304" pitchFamily="18" charset="0"/>
                <a:ea typeface="Times New Roman" panose="02020603050405020304" pitchFamily="18" charset="0"/>
              </a:rPr>
              <a:t>Integr</a:t>
            </a:r>
            <a:r>
              <a:rPr lang="en-IN" sz="1400" i="1" u="none" strike="noStrike" dirty="0">
                <a:effectLst/>
                <a:latin typeface="Times New Roman" panose="02020603050405020304" pitchFamily="18" charset="0"/>
                <a:ea typeface="Times New Roman" panose="02020603050405020304" pitchFamily="18" charset="0"/>
              </a:rPr>
              <a:t> </a:t>
            </a:r>
            <a:r>
              <a:rPr lang="en-IN" sz="1400" b="1" u="none" strike="noStrike" dirty="0">
                <a:effectLst/>
                <a:latin typeface="Times New Roman" panose="02020603050405020304" pitchFamily="18" charset="0"/>
                <a:ea typeface="Times New Roman" panose="02020603050405020304" pitchFamily="18" charset="0"/>
              </a:rPr>
              <a:t>19</a:t>
            </a:r>
            <a:r>
              <a:rPr lang="en-IN" sz="1400" u="none" strike="noStrike" dirty="0">
                <a:effectLst/>
                <a:latin typeface="Times New Roman" panose="02020603050405020304" pitchFamily="18" charset="0"/>
                <a:ea typeface="Times New Roman" panose="02020603050405020304" pitchFamily="18" charset="0"/>
              </a:rPr>
              <a:t>, 17 (2023). </a:t>
            </a:r>
            <a:r>
              <a:rPr lang="en-IN" sz="1400" u="none" strike="noStrike" dirty="0">
                <a:solidFill>
                  <a:srgbClr val="0000FF"/>
                </a:solidFill>
                <a:effectLst/>
                <a:latin typeface="Times New Roman" panose="02020603050405020304" pitchFamily="18" charset="0"/>
                <a:ea typeface="Times New Roman" panose="02020603050405020304" pitchFamily="18" charset="0"/>
                <a:hlinkClick r:id="rId7"/>
              </a:rPr>
              <a:t>https://doi.org/10.1007/s40979-023-00140-5</a:t>
            </a:r>
            <a:r>
              <a:rPr lang="en-IN" sz="1400" dirty="0">
                <a:effectLst/>
                <a:latin typeface="Times New Roman" panose="02020603050405020304" pitchFamily="18" charset="0"/>
                <a:ea typeface="Times New Roman" panose="02020603050405020304" pitchFamily="18" charset="0"/>
              </a:rPr>
              <a:t>.</a:t>
            </a:r>
          </a:p>
          <a:p>
            <a:pPr marL="342900" marR="285750" lvl="0" indent="-342900">
              <a:lnSpc>
                <a:spcPct val="150000"/>
              </a:lnSpc>
              <a:spcAft>
                <a:spcPts val="0"/>
              </a:spcAft>
              <a:buFont typeface="+mj-lt"/>
              <a:buAutoNum type="arabicPeriod"/>
              <a:tabLst>
                <a:tab pos="1057275" algn="l"/>
              </a:tabLst>
            </a:pPr>
            <a:r>
              <a:rPr lang="en-IN" sz="1400" dirty="0">
                <a:effectLst/>
                <a:latin typeface="Times New Roman" panose="02020603050405020304" pitchFamily="18" charset="0"/>
                <a:ea typeface="Times New Roman" panose="02020603050405020304" pitchFamily="18" charset="0"/>
              </a:rPr>
              <a:t>H. </a:t>
            </a:r>
            <a:r>
              <a:rPr lang="en-IN" sz="1400" dirty="0" err="1">
                <a:effectLst/>
                <a:latin typeface="Times New Roman" panose="02020603050405020304" pitchFamily="18" charset="0"/>
                <a:ea typeface="Times New Roman" panose="02020603050405020304" pitchFamily="18" charset="0"/>
              </a:rPr>
              <a:t>Alamleh</a:t>
            </a:r>
            <a:r>
              <a:rPr lang="en-IN" sz="1400" dirty="0">
                <a:effectLst/>
                <a:latin typeface="Times New Roman" panose="02020603050405020304" pitchFamily="18" charset="0"/>
                <a:ea typeface="Times New Roman" panose="02020603050405020304" pitchFamily="18" charset="0"/>
              </a:rPr>
              <a:t>, A. A. S. </a:t>
            </a:r>
            <a:r>
              <a:rPr lang="en-IN" sz="1400" dirty="0" err="1">
                <a:effectLst/>
                <a:latin typeface="Times New Roman" panose="02020603050405020304" pitchFamily="18" charset="0"/>
                <a:ea typeface="Times New Roman" panose="02020603050405020304" pitchFamily="18" charset="0"/>
              </a:rPr>
              <a:t>AlQahtani</a:t>
            </a:r>
            <a:r>
              <a:rPr lang="en-IN" sz="1400" dirty="0">
                <a:effectLst/>
                <a:latin typeface="Times New Roman" panose="02020603050405020304" pitchFamily="18" charset="0"/>
                <a:ea typeface="Times New Roman" panose="02020603050405020304" pitchFamily="18" charset="0"/>
              </a:rPr>
              <a:t> and A. </a:t>
            </a:r>
            <a:r>
              <a:rPr lang="en-IN" sz="1400" dirty="0" err="1">
                <a:effectLst/>
                <a:latin typeface="Times New Roman" panose="02020603050405020304" pitchFamily="18" charset="0"/>
                <a:ea typeface="Times New Roman" panose="02020603050405020304" pitchFamily="18" charset="0"/>
              </a:rPr>
              <a:t>ElSaid</a:t>
            </a:r>
            <a:r>
              <a:rPr lang="en-IN" sz="1400" dirty="0">
                <a:effectLst/>
                <a:latin typeface="Times New Roman" panose="02020603050405020304" pitchFamily="18" charset="0"/>
                <a:ea typeface="Times New Roman" panose="02020603050405020304" pitchFamily="18" charset="0"/>
              </a:rPr>
              <a:t>, "</a:t>
            </a:r>
            <a:r>
              <a:rPr lang="en-IN" sz="1400" u="sng" dirty="0">
                <a:solidFill>
                  <a:srgbClr val="0000FF"/>
                </a:solidFill>
                <a:effectLst/>
                <a:latin typeface="Times New Roman" panose="02020603050405020304" pitchFamily="18" charset="0"/>
                <a:ea typeface="Times New Roman" panose="02020603050405020304" pitchFamily="18" charset="0"/>
                <a:hlinkClick r:id="rId8"/>
              </a:rPr>
              <a:t>Distinguishing</a:t>
            </a:r>
            <a:r>
              <a:rPr lang="en-IN" sz="1400" dirty="0">
                <a:solidFill>
                  <a:srgbClr val="0000FF"/>
                </a:solidFill>
                <a:effectLst/>
                <a:latin typeface="Times New Roman" panose="02020603050405020304" pitchFamily="18" charset="0"/>
                <a:ea typeface="Times New Roman" panose="02020603050405020304" pitchFamily="18" charset="0"/>
              </a:rPr>
              <a:t> </a:t>
            </a:r>
            <a:r>
              <a:rPr lang="en-IN" sz="1400" u="sng" dirty="0">
                <a:solidFill>
                  <a:srgbClr val="0000FF"/>
                </a:solidFill>
                <a:effectLst/>
                <a:latin typeface="Times New Roman" panose="02020603050405020304" pitchFamily="18" charset="0"/>
                <a:ea typeface="Times New Roman" panose="02020603050405020304" pitchFamily="18" charset="0"/>
                <a:hlinkClick r:id="rId8"/>
              </a:rPr>
              <a:t>Human-Written and ChatGPT-Generated Text Using Machine</a:t>
            </a:r>
            <a:r>
              <a:rPr lang="en-IN" sz="1400" dirty="0">
                <a:solidFill>
                  <a:srgbClr val="0000FF"/>
                </a:solidFill>
                <a:effectLst/>
                <a:latin typeface="Times New Roman" panose="02020603050405020304" pitchFamily="18" charset="0"/>
                <a:ea typeface="Times New Roman" panose="02020603050405020304" pitchFamily="18" charset="0"/>
              </a:rPr>
              <a:t> </a:t>
            </a:r>
            <a:r>
              <a:rPr lang="en-IN" sz="1400" u="sng" dirty="0">
                <a:solidFill>
                  <a:srgbClr val="0000FF"/>
                </a:solidFill>
                <a:effectLst/>
                <a:latin typeface="Times New Roman" panose="02020603050405020304" pitchFamily="18" charset="0"/>
                <a:ea typeface="Times New Roman" panose="02020603050405020304" pitchFamily="18" charset="0"/>
              </a:rPr>
              <a:t>Learning</a:t>
            </a:r>
            <a:r>
              <a:rPr lang="en-IN" sz="1400" dirty="0">
                <a:effectLst/>
                <a:latin typeface="Times New Roman" panose="02020603050405020304" pitchFamily="18" charset="0"/>
                <a:ea typeface="Times New Roman" panose="02020603050405020304" pitchFamily="18" charset="0"/>
              </a:rPr>
              <a:t>," 2023 Systems and Information Engineering Design Symposium (SIEDS), Charlottesville, VA, USA, 2023, pp. 154-158, </a:t>
            </a:r>
            <a:r>
              <a:rPr lang="en-IN" sz="1400" dirty="0" err="1">
                <a:effectLst/>
                <a:latin typeface="Times New Roman" panose="02020603050405020304" pitchFamily="18" charset="0"/>
                <a:ea typeface="Times New Roman" panose="02020603050405020304" pitchFamily="18" charset="0"/>
              </a:rPr>
              <a:t>doi</a:t>
            </a:r>
            <a:r>
              <a:rPr lang="en-IN" sz="1400" dirty="0">
                <a:effectLst/>
                <a:latin typeface="Times New Roman" panose="02020603050405020304" pitchFamily="18" charset="0"/>
                <a:ea typeface="Times New Roman" panose="02020603050405020304" pitchFamily="18" charset="0"/>
              </a:rPr>
              <a:t>: 10.1109/SIEDS58326.2023.10137767.</a:t>
            </a:r>
          </a:p>
          <a:p>
            <a:pPr marL="342900" marR="285750" lvl="0" indent="-342900">
              <a:lnSpc>
                <a:spcPct val="150000"/>
              </a:lnSpc>
              <a:spcAft>
                <a:spcPts val="0"/>
              </a:spcAft>
              <a:buFont typeface="+mj-lt"/>
              <a:buAutoNum type="arabicPeriod"/>
              <a:tabLst>
                <a:tab pos="1057275" algn="l"/>
              </a:tabLst>
            </a:pPr>
            <a:r>
              <a:rPr lang="en-IN" sz="1400" dirty="0" err="1">
                <a:effectLst/>
                <a:latin typeface="Times New Roman" panose="02020603050405020304" pitchFamily="18" charset="0"/>
                <a:ea typeface="Times New Roman" panose="02020603050405020304" pitchFamily="18" charset="0"/>
              </a:rPr>
              <a:t>Tomáš</a:t>
            </a:r>
            <a:r>
              <a:rPr lang="en-IN" sz="1400" dirty="0">
                <a:effectLst/>
                <a:latin typeface="Times New Roman" panose="02020603050405020304" pitchFamily="18" charset="0"/>
                <a:ea typeface="Times New Roman" panose="02020603050405020304" pitchFamily="18" charset="0"/>
              </a:rPr>
              <a:t> </a:t>
            </a:r>
            <a:r>
              <a:rPr lang="en-IN" sz="1400" dirty="0" err="1">
                <a:effectLst/>
                <a:latin typeface="Times New Roman" panose="02020603050405020304" pitchFamily="18" charset="0"/>
                <a:ea typeface="Times New Roman" panose="02020603050405020304" pitchFamily="18" charset="0"/>
              </a:rPr>
              <a:t>Foltýnek</a:t>
            </a:r>
            <a:r>
              <a:rPr lang="en-IN" sz="1400" dirty="0">
                <a:effectLst/>
                <a:latin typeface="Times New Roman" panose="02020603050405020304" pitchFamily="18" charset="0"/>
                <a:ea typeface="Times New Roman" panose="02020603050405020304" pitchFamily="18" charset="0"/>
              </a:rPr>
              <a:t>, Norman </a:t>
            </a:r>
            <a:r>
              <a:rPr lang="en-IN" sz="1400" dirty="0" err="1">
                <a:effectLst/>
                <a:latin typeface="Times New Roman" panose="02020603050405020304" pitchFamily="18" charset="0"/>
                <a:ea typeface="Times New Roman" panose="02020603050405020304" pitchFamily="18" charset="0"/>
              </a:rPr>
              <a:t>Meuschke</a:t>
            </a:r>
            <a:r>
              <a:rPr lang="en-IN" sz="1400" dirty="0">
                <a:effectLst/>
                <a:latin typeface="Times New Roman" panose="02020603050405020304" pitchFamily="18" charset="0"/>
                <a:ea typeface="Times New Roman" panose="02020603050405020304" pitchFamily="18" charset="0"/>
              </a:rPr>
              <a:t>, and Bela </a:t>
            </a:r>
            <a:r>
              <a:rPr lang="en-IN" sz="1400" dirty="0" err="1">
                <a:effectLst/>
                <a:latin typeface="Times New Roman" panose="02020603050405020304" pitchFamily="18" charset="0"/>
                <a:ea typeface="Times New Roman" panose="02020603050405020304" pitchFamily="18" charset="0"/>
              </a:rPr>
              <a:t>Gipp</a:t>
            </a:r>
            <a:r>
              <a:rPr lang="en-IN" sz="1400" dirty="0">
                <a:effectLst/>
                <a:latin typeface="Times New Roman" panose="02020603050405020304" pitchFamily="18" charset="0"/>
                <a:ea typeface="Times New Roman" panose="02020603050405020304" pitchFamily="18" charset="0"/>
              </a:rPr>
              <a:t>. 2019. </a:t>
            </a:r>
            <a:r>
              <a:rPr lang="en-IN" sz="1400" u="sng" dirty="0">
                <a:solidFill>
                  <a:srgbClr val="0000FF"/>
                </a:solidFill>
                <a:effectLst/>
                <a:latin typeface="Times New Roman" panose="02020603050405020304" pitchFamily="18" charset="0"/>
                <a:ea typeface="Times New Roman" panose="02020603050405020304" pitchFamily="18" charset="0"/>
                <a:hlinkClick r:id="rId9"/>
              </a:rPr>
              <a:t>Academic Plagiarism Detection: A Systematic Literature Review</a:t>
            </a:r>
            <a:r>
              <a:rPr lang="en-IN" sz="1400" dirty="0">
                <a:effectLst/>
                <a:latin typeface="Times New Roman" panose="02020603050405020304" pitchFamily="18" charset="0"/>
                <a:ea typeface="Times New Roman" panose="02020603050405020304" pitchFamily="18" charset="0"/>
              </a:rPr>
              <a:t>. ACM </a:t>
            </a:r>
            <a:r>
              <a:rPr lang="en-IN" sz="1400" dirty="0" err="1">
                <a:effectLst/>
                <a:latin typeface="Times New Roman" panose="02020603050405020304" pitchFamily="18" charset="0"/>
                <a:ea typeface="Times New Roman" panose="02020603050405020304" pitchFamily="18" charset="0"/>
              </a:rPr>
              <a:t>Comput</a:t>
            </a:r>
            <a:r>
              <a:rPr lang="en-IN" sz="1400" dirty="0">
                <a:effectLst/>
                <a:latin typeface="Times New Roman" panose="02020603050405020304" pitchFamily="18" charset="0"/>
                <a:ea typeface="Times New Roman" panose="02020603050405020304" pitchFamily="18" charset="0"/>
              </a:rPr>
              <a:t>. </a:t>
            </a:r>
            <a:r>
              <a:rPr lang="en-IN" sz="1400" dirty="0" err="1">
                <a:effectLst/>
                <a:latin typeface="Times New Roman" panose="02020603050405020304" pitchFamily="18" charset="0"/>
                <a:ea typeface="Times New Roman" panose="02020603050405020304" pitchFamily="18" charset="0"/>
              </a:rPr>
              <a:t>Surv</a:t>
            </a:r>
            <a:r>
              <a:rPr lang="en-IN" sz="1400" dirty="0">
                <a:effectLst/>
                <a:latin typeface="Times New Roman" panose="02020603050405020304" pitchFamily="18" charset="0"/>
                <a:ea typeface="Times New Roman" panose="02020603050405020304" pitchFamily="18" charset="0"/>
              </a:rPr>
              <a:t>. 52, 6, Article 112 (November 2020), 42 pages. </a:t>
            </a:r>
            <a:r>
              <a:rPr lang="en-IN" sz="1400" u="sng" dirty="0">
                <a:solidFill>
                  <a:srgbClr val="0000FF"/>
                </a:solidFill>
                <a:effectLst/>
                <a:latin typeface="Times New Roman" panose="02020603050405020304" pitchFamily="18" charset="0"/>
                <a:ea typeface="Times New Roman" panose="02020603050405020304" pitchFamily="18" charset="0"/>
                <a:hlinkClick r:id="rId10"/>
              </a:rPr>
              <a:t>https://doi.org/10.1145/3345317</a:t>
            </a:r>
            <a:endParaRPr lang="en-IN" sz="1400" u="sng" dirty="0">
              <a:solidFill>
                <a:srgbClr val="0000FF"/>
              </a:solidFill>
              <a:effectLst/>
              <a:latin typeface="Times New Roman" panose="02020603050405020304" pitchFamily="18" charset="0"/>
              <a:ea typeface="Times New Roman" panose="02020603050405020304" pitchFamily="18" charset="0"/>
            </a:endParaRPr>
          </a:p>
          <a:p>
            <a:pPr marL="342900" marR="285750" lvl="0" indent="-342900">
              <a:lnSpc>
                <a:spcPct val="150000"/>
              </a:lnSpc>
              <a:spcAft>
                <a:spcPts val="0"/>
              </a:spcAft>
              <a:buFont typeface="+mj-lt"/>
              <a:buAutoNum type="arabicPeriod"/>
              <a:tabLst>
                <a:tab pos="1057275" algn="l"/>
              </a:tabLst>
            </a:pPr>
            <a:r>
              <a:rPr lang="en-IN" sz="1400" dirty="0">
                <a:effectLst/>
                <a:latin typeface="Times New Roman" panose="02020603050405020304" pitchFamily="18" charset="0"/>
                <a:ea typeface="Times New Roman" panose="02020603050405020304" pitchFamily="18" charset="0"/>
              </a:rPr>
              <a:t>H. A. Chowdhury, D. K. Bhattacharyya, “</a:t>
            </a:r>
            <a:r>
              <a:rPr lang="en-IN" sz="1400" u="sng" dirty="0">
                <a:solidFill>
                  <a:srgbClr val="0000FF"/>
                </a:solidFill>
                <a:effectLst/>
                <a:latin typeface="Times New Roman" panose="02020603050405020304" pitchFamily="18" charset="0"/>
                <a:ea typeface="Times New Roman" panose="02020603050405020304" pitchFamily="18" charset="0"/>
                <a:hlinkClick r:id="rId11"/>
              </a:rPr>
              <a:t>Plagiarism: Taxonomy,</a:t>
            </a:r>
            <a:r>
              <a:rPr lang="en-IN" sz="1400" dirty="0">
                <a:solidFill>
                  <a:srgbClr val="0000FF"/>
                </a:solidFill>
                <a:effectLst/>
                <a:latin typeface="Times New Roman" panose="02020603050405020304" pitchFamily="18" charset="0"/>
                <a:ea typeface="Times New Roman" panose="02020603050405020304" pitchFamily="18" charset="0"/>
              </a:rPr>
              <a:t> </a:t>
            </a:r>
            <a:r>
              <a:rPr lang="en-IN" sz="1400" u="sng" dirty="0">
                <a:solidFill>
                  <a:srgbClr val="0000FF"/>
                </a:solidFill>
                <a:effectLst/>
                <a:latin typeface="Times New Roman" panose="02020603050405020304" pitchFamily="18" charset="0"/>
                <a:ea typeface="Times New Roman" panose="02020603050405020304" pitchFamily="18" charset="0"/>
                <a:hlinkClick r:id="rId11"/>
              </a:rPr>
              <a:t>Tools and Detection Techniques</a:t>
            </a:r>
            <a:r>
              <a:rPr lang="en-IN" sz="1400" dirty="0">
                <a:effectLst/>
                <a:latin typeface="Times New Roman" panose="02020603050405020304" pitchFamily="18" charset="0"/>
                <a:ea typeface="Times New Roman" panose="02020603050405020304" pitchFamily="18" charset="0"/>
              </a:rPr>
              <a:t>”, 19th National Convention on Knowledge, Library and Information Networking, 2018</a:t>
            </a:r>
            <a:r>
              <a:rPr lang="en-IN" sz="1800" dirty="0">
                <a:effectLst/>
                <a:latin typeface="Times New Roman" panose="02020603050405020304" pitchFamily="18" charset="0"/>
                <a:ea typeface="Times New Roman" panose="02020603050405020304" pitchFamily="18" charset="0"/>
              </a:rPr>
              <a:t>.</a:t>
            </a:r>
            <a:endParaRPr lang="en-IN" sz="1400" dirty="0">
              <a:effectLst/>
              <a:latin typeface="Arial" panose="020B0604020202020204" pitchFamily="34" charset="0"/>
              <a:ea typeface="Arial" panose="020B0604020202020204" pitchFamily="34" charset="0"/>
            </a:endParaRPr>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32822" y="2321005"/>
            <a:ext cx="4078361"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Queries</a:t>
            </a:r>
          </a:p>
        </p:txBody>
      </p:sp>
    </p:spTree>
    <p:extLst>
      <p:ext uri="{BB962C8B-B14F-4D97-AF65-F5344CB8AC3E}">
        <p14:creationId xmlns:p14="http://schemas.microsoft.com/office/powerpoint/2010/main" val="2191802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7460" y="2321005"/>
            <a:ext cx="7689093"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Demonstration</a:t>
            </a:r>
          </a:p>
        </p:txBody>
      </p:sp>
    </p:spTree>
    <p:extLst>
      <p:ext uri="{BB962C8B-B14F-4D97-AF65-F5344CB8AC3E}">
        <p14:creationId xmlns:p14="http://schemas.microsoft.com/office/powerpoint/2010/main" val="2606368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ags/tag17.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9365</TotalTime>
  <Words>1173</Words>
  <Application>Microsoft Office PowerPoint</Application>
  <PresentationFormat>On-screen Show (4:3)</PresentationFormat>
  <Paragraphs>109</Paragraphs>
  <Slides>21</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Open Sans Bold</vt:lpstr>
      <vt:lpstr>Open Sans Extrabold</vt:lpstr>
      <vt:lpstr>Open Sans Light</vt:lpstr>
      <vt:lpstr>Times New Roman</vt:lpstr>
      <vt:lpstr>Wingdings</vt:lpstr>
      <vt:lpstr>Office Theme</vt:lpstr>
      <vt:lpstr>PowerPoint Presentation</vt:lpstr>
      <vt:lpstr>Abstract</vt:lpstr>
      <vt:lpstr>Need for the Proposed System</vt:lpstr>
      <vt:lpstr>Advantages of the Proposed System</vt:lpstr>
      <vt:lpstr>Main Objective</vt:lpstr>
      <vt:lpstr>Architecture Diagram</vt:lpstr>
      <vt:lpstr>System Requirements</vt:lpstr>
      <vt:lpstr>Functional Description</vt:lpstr>
      <vt:lpstr>Flow Diagram</vt:lpstr>
      <vt:lpstr>Sequence Diagram</vt:lpstr>
      <vt:lpstr>Process Design</vt:lpstr>
      <vt:lpstr>Implementation</vt:lpstr>
      <vt:lpstr>Screenshots of Workflow</vt:lpstr>
      <vt:lpstr>Testing</vt:lpstr>
      <vt:lpstr>Testing</vt:lpstr>
      <vt:lpstr>Conclusions</vt:lpstr>
      <vt:lpstr>Future Enhancement</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Rishi Karthick</cp:lastModifiedBy>
  <cp:revision>1748</cp:revision>
  <dcterms:created xsi:type="dcterms:W3CDTF">2013-05-17T03:00:03Z</dcterms:created>
  <dcterms:modified xsi:type="dcterms:W3CDTF">2024-11-22T04:35:48Z</dcterms:modified>
</cp:coreProperties>
</file>